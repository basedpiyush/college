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1430000" cy="10591800"/>
  <p:notesSz cx="11430000" cy="105918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2244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E5E0DF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E5E0DF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492125"/>
            <a:ext cx="10255250" cy="107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chemeClr val="bg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7375" y="1888489"/>
            <a:ext cx="5902960" cy="3473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E5E0DF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26894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5" name="object 5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7375" y="1968500"/>
            <a:ext cx="4925695" cy="16446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>
              <a:lnSpc>
                <a:spcPct val="105400"/>
              </a:lnSpc>
              <a:spcBef>
                <a:spcPts val="130"/>
              </a:spcBef>
            </a:pPr>
            <a:r>
              <a:rPr spc="-10" dirty="0"/>
              <a:t>Bank</a:t>
            </a:r>
            <a:r>
              <a:rPr spc="-425" dirty="0"/>
              <a:t> </a:t>
            </a:r>
            <a:r>
              <a:rPr spc="-70" dirty="0"/>
              <a:t>Customer</a:t>
            </a:r>
            <a:r>
              <a:rPr spc="-415" dirty="0"/>
              <a:t> </a:t>
            </a:r>
            <a:r>
              <a:rPr spc="-10" dirty="0"/>
              <a:t>Churn </a:t>
            </a:r>
            <a:r>
              <a:rPr spc="-80" dirty="0"/>
              <a:t>Prediction</a:t>
            </a:r>
            <a:r>
              <a:rPr spc="-400" dirty="0"/>
              <a:t> </a:t>
            </a:r>
            <a:r>
              <a:rPr spc="-30" dirty="0"/>
              <a:t>Using</a:t>
            </a:r>
            <a:r>
              <a:rPr spc="-395" dirty="0"/>
              <a:t> </a:t>
            </a:r>
            <a:r>
              <a:rPr spc="-25" dirty="0"/>
              <a:t>IBM </a:t>
            </a:r>
            <a:r>
              <a:rPr spc="-10" dirty="0"/>
              <a:t>SPSS</a:t>
            </a:r>
            <a:r>
              <a:rPr spc="-465" dirty="0"/>
              <a:t> </a:t>
            </a:r>
            <a:r>
              <a:rPr spc="-10" dirty="0"/>
              <a:t>Modeler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E6E648-042A-892C-C8F5-4E17234D7580}"/>
              </a:ext>
            </a:extLst>
          </p:cNvPr>
          <p:cNvSpPr txBox="1"/>
          <p:nvPr/>
        </p:nvSpPr>
        <p:spPr>
          <a:xfrm>
            <a:off x="533400" y="4276874"/>
            <a:ext cx="579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Presented by -:    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 PIYUSH SHARMA</a:t>
            </a:r>
            <a:endParaRPr lang="en-US" dirty="0">
              <a:solidFill>
                <a:schemeClr val="bg2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                              	   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rial Rounded MT Bold" panose="020F0704030504030204" pitchFamily="34" charset="0"/>
              </a:rPr>
              <a:t>	                   </a:t>
            </a:r>
            <a:endParaRPr lang="en-IN" dirty="0">
              <a:solidFill>
                <a:schemeClr val="bg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73625" y="939800"/>
            <a:ext cx="3948429" cy="107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/>
              <a:t>Why</a:t>
            </a:r>
            <a:r>
              <a:rPr spc="-420" dirty="0"/>
              <a:t> </a:t>
            </a:r>
            <a:r>
              <a:rPr spc="-55" dirty="0"/>
              <a:t>Predict</a:t>
            </a:r>
            <a:r>
              <a:rPr spc="-415" dirty="0"/>
              <a:t> </a:t>
            </a:r>
            <a:r>
              <a:rPr spc="-40" dirty="0"/>
              <a:t>Bank </a:t>
            </a:r>
            <a:r>
              <a:rPr spc="-70" dirty="0"/>
              <a:t>Customer</a:t>
            </a:r>
            <a:r>
              <a:rPr spc="-365" dirty="0"/>
              <a:t> </a:t>
            </a:r>
            <a:r>
              <a:rPr spc="-10" dirty="0"/>
              <a:t>Churn?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73625" y="2383789"/>
            <a:ext cx="2592705" cy="138747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33100"/>
              </a:lnSpc>
              <a:spcBef>
                <a:spcPts val="40"/>
              </a:spcBef>
            </a:pP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Losing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 customers 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directly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impacts 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revenue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and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market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position.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In 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today's</a:t>
            </a:r>
            <a:r>
              <a:rPr sz="1350" spc="-1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competitive</a:t>
            </a:r>
            <a:r>
              <a:rPr sz="1350" spc="-1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banking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landscape,</a:t>
            </a:r>
            <a:r>
              <a:rPr sz="1350" spc="-1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customer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retention</a:t>
            </a:r>
            <a:r>
              <a:rPr sz="1350" spc="-1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is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more</a:t>
            </a:r>
            <a:r>
              <a:rPr sz="1350" spc="-5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critical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than</a:t>
            </a:r>
            <a:r>
              <a:rPr sz="1350" spc="-5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ever.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73625" y="3898265"/>
            <a:ext cx="2778125" cy="13970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33100"/>
              </a:lnSpc>
              <a:spcBef>
                <a:spcPts val="114"/>
              </a:spcBef>
            </a:pP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Banks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face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fierce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 competition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and 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rapidly evolving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customer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expectations.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Traditional</a:t>
            </a:r>
            <a:r>
              <a:rPr sz="1350" spc="2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approaches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are</a:t>
            </a:r>
            <a:r>
              <a:rPr sz="1350" spc="-5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no</a:t>
            </a:r>
            <a:r>
              <a:rPr sz="1350" spc="-5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longer</a:t>
            </a:r>
            <a:r>
              <a:rPr sz="1350" spc="-5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sufficient</a:t>
            </a:r>
            <a:r>
              <a:rPr sz="1350" spc="-5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to</a:t>
            </a:r>
            <a:r>
              <a:rPr sz="1350" spc="-5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maintain loyalty.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64055" y="2383789"/>
            <a:ext cx="2580640" cy="11112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32700"/>
              </a:lnSpc>
              <a:spcBef>
                <a:spcPts val="50"/>
              </a:spcBef>
            </a:pP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Predictive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analytics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enables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proactive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retention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strategies,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allowing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banks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to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intervene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before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customers</a:t>
            </a:r>
            <a:r>
              <a:rPr sz="1350" spc="-1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leave.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64055" y="3622040"/>
            <a:ext cx="2780030" cy="13970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33100"/>
              </a:lnSpc>
              <a:spcBef>
                <a:spcPts val="114"/>
              </a:spcBef>
            </a:pPr>
            <a:r>
              <a:rPr sz="1350" b="1" dirty="0">
                <a:solidFill>
                  <a:srgbClr val="E5E0DF"/>
                </a:solidFill>
                <a:latin typeface="Roboto"/>
                <a:cs typeface="Roboto"/>
              </a:rPr>
              <a:t>Churn</a:t>
            </a:r>
            <a:r>
              <a:rPr sz="1350" b="1" spc="-3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b="1" spc="-20" dirty="0">
                <a:solidFill>
                  <a:srgbClr val="E5E0DF"/>
                </a:solidFill>
                <a:latin typeface="Roboto"/>
                <a:cs typeface="Roboto"/>
              </a:rPr>
              <a:t>prediction</a:t>
            </a:r>
            <a:r>
              <a:rPr sz="1350" b="1" spc="-2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b="1" spc="-20" dirty="0">
                <a:solidFill>
                  <a:srgbClr val="E5E0DF"/>
                </a:solidFill>
                <a:latin typeface="Roboto"/>
                <a:cs typeface="Roboto"/>
              </a:rPr>
              <a:t>transforms</a:t>
            </a:r>
            <a:r>
              <a:rPr sz="1350" b="1" spc="-25" dirty="0">
                <a:solidFill>
                  <a:srgbClr val="E5E0DF"/>
                </a:solidFill>
                <a:latin typeface="Roboto"/>
                <a:cs typeface="Roboto"/>
              </a:rPr>
              <a:t> raw </a:t>
            </a:r>
            <a:r>
              <a:rPr sz="1350" b="1" spc="-20" dirty="0">
                <a:solidFill>
                  <a:srgbClr val="E5E0DF"/>
                </a:solidFill>
                <a:latin typeface="Roboto"/>
                <a:cs typeface="Roboto"/>
              </a:rPr>
              <a:t>data</a:t>
            </a:r>
            <a:r>
              <a:rPr sz="1350" b="1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b="1" spc="-20" dirty="0">
                <a:solidFill>
                  <a:srgbClr val="E5E0DF"/>
                </a:solidFill>
                <a:latin typeface="Roboto"/>
                <a:cs typeface="Roboto"/>
              </a:rPr>
              <a:t>into</a:t>
            </a:r>
            <a:r>
              <a:rPr sz="1350" b="1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b="1" spc="-20" dirty="0">
                <a:solidFill>
                  <a:srgbClr val="E5E0DF"/>
                </a:solidFill>
                <a:latin typeface="Roboto"/>
                <a:cs typeface="Roboto"/>
              </a:rPr>
              <a:t>actionable</a:t>
            </a:r>
            <a:r>
              <a:rPr sz="1350" b="1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b="1" spc="-10" dirty="0">
                <a:solidFill>
                  <a:srgbClr val="E5E0DF"/>
                </a:solidFill>
                <a:latin typeface="Roboto"/>
                <a:cs typeface="Roboto"/>
              </a:rPr>
              <a:t>insights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,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empowering</a:t>
            </a:r>
            <a:r>
              <a:rPr sz="1350" spc="-5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teams</a:t>
            </a:r>
            <a:r>
              <a:rPr sz="1350" spc="-5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to</a:t>
            </a:r>
            <a:r>
              <a:rPr sz="1350" spc="-5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make</a:t>
            </a:r>
            <a:r>
              <a:rPr sz="1350" spc="-5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data-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driven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decisions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that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protect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revenue and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enhance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customer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relationships.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7" name="object 7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10591800"/>
          </a:xfrm>
          <a:custGeom>
            <a:avLst/>
            <a:gdLst/>
            <a:ahLst/>
            <a:cxnLst/>
            <a:rect l="l" t="t" r="r" b="b"/>
            <a:pathLst>
              <a:path w="11430000" h="10591800">
                <a:moveTo>
                  <a:pt x="11430000" y="0"/>
                </a:moveTo>
                <a:lnTo>
                  <a:pt x="0" y="0"/>
                </a:lnTo>
                <a:lnTo>
                  <a:pt x="0" y="10591800"/>
                </a:lnTo>
                <a:lnTo>
                  <a:pt x="11430000" y="105918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286250" cy="105917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73625" y="463550"/>
            <a:ext cx="3948429" cy="107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spc="-10" dirty="0"/>
              <a:t>What</a:t>
            </a:r>
            <a:r>
              <a:rPr spc="-390" dirty="0"/>
              <a:t> </a:t>
            </a:r>
            <a:r>
              <a:rPr dirty="0"/>
              <a:t>is</a:t>
            </a:r>
            <a:r>
              <a:rPr spc="-385" dirty="0"/>
              <a:t> </a:t>
            </a:r>
            <a:r>
              <a:rPr dirty="0"/>
              <a:t>IBM</a:t>
            </a:r>
            <a:r>
              <a:rPr spc="-385" dirty="0"/>
              <a:t> </a:t>
            </a:r>
            <a:r>
              <a:rPr spc="-45" dirty="0"/>
              <a:t>SPSS </a:t>
            </a:r>
            <a:r>
              <a:rPr spc="-10" dirty="0"/>
              <a:t>Modeler?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886325" y="1809749"/>
            <a:ext cx="5943600" cy="1943100"/>
            <a:chOff x="4886325" y="1809749"/>
            <a:chExt cx="5943600" cy="1943100"/>
          </a:xfrm>
        </p:grpSpPr>
        <p:sp>
          <p:nvSpPr>
            <p:cNvPr id="6" name="object 6"/>
            <p:cNvSpPr/>
            <p:nvPr/>
          </p:nvSpPr>
          <p:spPr>
            <a:xfrm>
              <a:off x="4886325" y="1809749"/>
              <a:ext cx="5943600" cy="1943100"/>
            </a:xfrm>
            <a:custGeom>
              <a:avLst/>
              <a:gdLst/>
              <a:ahLst/>
              <a:cxnLst/>
              <a:rect l="l" t="t" r="r" b="b"/>
              <a:pathLst>
                <a:path w="5943600" h="1943100">
                  <a:moveTo>
                    <a:pt x="5925007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1921662"/>
                  </a:lnTo>
                  <a:lnTo>
                    <a:pt x="0" y="1924507"/>
                  </a:lnTo>
                  <a:lnTo>
                    <a:pt x="18592" y="1943100"/>
                  </a:lnTo>
                  <a:lnTo>
                    <a:pt x="5925007" y="1943100"/>
                  </a:lnTo>
                  <a:lnTo>
                    <a:pt x="5943600" y="1924507"/>
                  </a:lnTo>
                  <a:lnTo>
                    <a:pt x="5943600" y="18592"/>
                  </a:lnTo>
                  <a:lnTo>
                    <a:pt x="5927750" y="546"/>
                  </a:lnTo>
                  <a:lnTo>
                    <a:pt x="592500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57775" y="1981199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78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91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71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8005" y="347814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44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DCF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95389" y="2163201"/>
              <a:ext cx="241952" cy="15317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045075" y="2659062"/>
            <a:ext cx="5392420" cy="8839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E5E0DF"/>
                </a:solidFill>
                <a:latin typeface="Courier New"/>
                <a:cs typeface="Courier New"/>
              </a:rPr>
              <a:t>Visual</a:t>
            </a:r>
            <a:r>
              <a:rPr sz="1650" spc="-240" dirty="0">
                <a:solidFill>
                  <a:srgbClr val="E5E0DF"/>
                </a:solidFill>
                <a:latin typeface="Courier New"/>
                <a:cs typeface="Courier New"/>
              </a:rPr>
              <a:t> </a:t>
            </a:r>
            <a:r>
              <a:rPr sz="1650" spc="-10" dirty="0">
                <a:solidFill>
                  <a:srgbClr val="E5E0DF"/>
                </a:solidFill>
                <a:latin typeface="Courier New"/>
                <a:cs typeface="Courier New"/>
              </a:rPr>
              <a:t>Platform</a:t>
            </a:r>
            <a:endParaRPr sz="1650">
              <a:latin typeface="Courier New"/>
              <a:cs typeface="Courier New"/>
            </a:endParaRPr>
          </a:p>
          <a:p>
            <a:pPr marL="12700" marR="5080">
              <a:lnSpc>
                <a:spcPct val="129600"/>
              </a:lnSpc>
              <a:spcBef>
                <a:spcPts val="540"/>
              </a:spcBef>
            </a:pP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A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leading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visual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data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science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and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machine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learning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platform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by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IBM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that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democratizes 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analytics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for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business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users.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886325" y="3924300"/>
            <a:ext cx="5943600" cy="1952625"/>
            <a:chOff x="4886325" y="3924300"/>
            <a:chExt cx="5943600" cy="1952625"/>
          </a:xfrm>
        </p:grpSpPr>
        <p:sp>
          <p:nvSpPr>
            <p:cNvPr id="11" name="object 11"/>
            <p:cNvSpPr/>
            <p:nvPr/>
          </p:nvSpPr>
          <p:spPr>
            <a:xfrm>
              <a:off x="4886325" y="3924300"/>
              <a:ext cx="5943600" cy="1952625"/>
            </a:xfrm>
            <a:custGeom>
              <a:avLst/>
              <a:gdLst/>
              <a:ahLst/>
              <a:cxnLst/>
              <a:rect l="l" t="t" r="r" b="b"/>
              <a:pathLst>
                <a:path w="5943600" h="1952625">
                  <a:moveTo>
                    <a:pt x="5925007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1931187"/>
                  </a:lnTo>
                  <a:lnTo>
                    <a:pt x="0" y="1934032"/>
                  </a:lnTo>
                  <a:lnTo>
                    <a:pt x="18592" y="1952625"/>
                  </a:lnTo>
                  <a:lnTo>
                    <a:pt x="5925007" y="1952625"/>
                  </a:lnTo>
                  <a:lnTo>
                    <a:pt x="5943600" y="1934032"/>
                  </a:lnTo>
                  <a:lnTo>
                    <a:pt x="5943600" y="18592"/>
                  </a:lnTo>
                  <a:lnTo>
                    <a:pt x="5927750" y="546"/>
                  </a:lnTo>
                  <a:lnTo>
                    <a:pt x="592500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057775" y="4095750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78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78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58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8005" y="347814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44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DCF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28647" y="4238625"/>
              <a:ext cx="175615" cy="23663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045075" y="4773612"/>
            <a:ext cx="5180330" cy="8934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45" dirty="0">
                <a:solidFill>
                  <a:srgbClr val="E5E0DF"/>
                </a:solidFill>
                <a:latin typeface="Courier New"/>
                <a:cs typeface="Courier New"/>
              </a:rPr>
              <a:t>No-</a:t>
            </a:r>
            <a:r>
              <a:rPr sz="1650" dirty="0">
                <a:solidFill>
                  <a:srgbClr val="E5E0DF"/>
                </a:solidFill>
                <a:latin typeface="Courier New"/>
                <a:cs typeface="Courier New"/>
              </a:rPr>
              <a:t>Code</a:t>
            </a:r>
            <a:r>
              <a:rPr sz="1650" spc="-140" dirty="0">
                <a:solidFill>
                  <a:srgbClr val="E5E0DF"/>
                </a:solidFill>
                <a:latin typeface="Courier New"/>
                <a:cs typeface="Courier New"/>
              </a:rPr>
              <a:t> </a:t>
            </a:r>
            <a:r>
              <a:rPr sz="1650" spc="-10" dirty="0">
                <a:solidFill>
                  <a:srgbClr val="E5E0DF"/>
                </a:solidFill>
                <a:latin typeface="Courier New"/>
                <a:cs typeface="Courier New"/>
              </a:rPr>
              <a:t>Interface</a:t>
            </a:r>
            <a:endParaRPr sz="1650">
              <a:latin typeface="Courier New"/>
              <a:cs typeface="Courier New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sz="1350" spc="-90" dirty="0">
                <a:solidFill>
                  <a:srgbClr val="E5E0DF"/>
                </a:solidFill>
                <a:latin typeface="Roboto"/>
                <a:cs typeface="Roboto"/>
              </a:rPr>
              <a:t>Drag-</a:t>
            </a:r>
            <a:r>
              <a:rPr sz="1350" spc="-95" dirty="0">
                <a:solidFill>
                  <a:srgbClr val="E5E0DF"/>
                </a:solidFill>
                <a:latin typeface="Roboto"/>
                <a:cs typeface="Roboto"/>
              </a:rPr>
              <a:t>and-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drop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interface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for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 building 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predictive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models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 without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coding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expertise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or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technical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barriers.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886325" y="6048375"/>
            <a:ext cx="5943600" cy="1943100"/>
            <a:chOff x="4886325" y="6048375"/>
            <a:chExt cx="5943600" cy="1943100"/>
          </a:xfrm>
        </p:grpSpPr>
        <p:sp>
          <p:nvSpPr>
            <p:cNvPr id="16" name="object 16"/>
            <p:cNvSpPr/>
            <p:nvPr/>
          </p:nvSpPr>
          <p:spPr>
            <a:xfrm>
              <a:off x="4886325" y="6048375"/>
              <a:ext cx="5943600" cy="1943100"/>
            </a:xfrm>
            <a:custGeom>
              <a:avLst/>
              <a:gdLst/>
              <a:ahLst/>
              <a:cxnLst/>
              <a:rect l="l" t="t" r="r" b="b"/>
              <a:pathLst>
                <a:path w="5943600" h="1943100">
                  <a:moveTo>
                    <a:pt x="5925007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1921662"/>
                  </a:lnTo>
                  <a:lnTo>
                    <a:pt x="0" y="1924507"/>
                  </a:lnTo>
                  <a:lnTo>
                    <a:pt x="18592" y="1943100"/>
                  </a:lnTo>
                  <a:lnTo>
                    <a:pt x="5925007" y="1943100"/>
                  </a:lnTo>
                  <a:lnTo>
                    <a:pt x="5943600" y="1924507"/>
                  </a:lnTo>
                  <a:lnTo>
                    <a:pt x="5943600" y="18592"/>
                  </a:lnTo>
                  <a:lnTo>
                    <a:pt x="5927750" y="546"/>
                  </a:lnTo>
                  <a:lnTo>
                    <a:pt x="592500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057775" y="621982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78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78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58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8005" y="347814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44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DCF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95367" y="6357899"/>
              <a:ext cx="241972" cy="24102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045075" y="6897687"/>
            <a:ext cx="5347335" cy="8839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45" dirty="0">
                <a:solidFill>
                  <a:srgbClr val="E5E0DF"/>
                </a:solidFill>
                <a:latin typeface="Courier New"/>
                <a:cs typeface="Courier New"/>
              </a:rPr>
              <a:t>End-to-</a:t>
            </a:r>
            <a:r>
              <a:rPr sz="1650" dirty="0">
                <a:solidFill>
                  <a:srgbClr val="E5E0DF"/>
                </a:solidFill>
                <a:latin typeface="Courier New"/>
                <a:cs typeface="Courier New"/>
              </a:rPr>
              <a:t>End</a:t>
            </a:r>
            <a:r>
              <a:rPr sz="1650" spc="-65" dirty="0">
                <a:solidFill>
                  <a:srgbClr val="E5E0DF"/>
                </a:solidFill>
                <a:latin typeface="Courier New"/>
                <a:cs typeface="Courier New"/>
              </a:rPr>
              <a:t> </a:t>
            </a:r>
            <a:r>
              <a:rPr sz="1650" spc="-10" dirty="0">
                <a:solidFill>
                  <a:srgbClr val="E5E0DF"/>
                </a:solidFill>
                <a:latin typeface="Courier New"/>
                <a:cs typeface="Courier New"/>
              </a:rPr>
              <a:t>Solution</a:t>
            </a:r>
            <a:endParaRPr sz="1650">
              <a:latin typeface="Courier New"/>
              <a:cs typeface="Courier New"/>
            </a:endParaRPr>
          </a:p>
          <a:p>
            <a:pPr marL="12700" marR="5080">
              <a:lnSpc>
                <a:spcPct val="129600"/>
              </a:lnSpc>
              <a:spcBef>
                <a:spcPts val="540"/>
              </a:spcBef>
            </a:pP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Supports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data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preparation,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modeling,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evaluation,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and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deployment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in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one integrated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workflow.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886325" y="8162925"/>
            <a:ext cx="5943600" cy="1952625"/>
            <a:chOff x="4886325" y="8162925"/>
            <a:chExt cx="5943600" cy="1952625"/>
          </a:xfrm>
        </p:grpSpPr>
        <p:sp>
          <p:nvSpPr>
            <p:cNvPr id="21" name="object 21"/>
            <p:cNvSpPr/>
            <p:nvPr/>
          </p:nvSpPr>
          <p:spPr>
            <a:xfrm>
              <a:off x="4886325" y="8162925"/>
              <a:ext cx="5943600" cy="1952625"/>
            </a:xfrm>
            <a:custGeom>
              <a:avLst/>
              <a:gdLst/>
              <a:ahLst/>
              <a:cxnLst/>
              <a:rect l="l" t="t" r="r" b="b"/>
              <a:pathLst>
                <a:path w="5943600" h="1952625">
                  <a:moveTo>
                    <a:pt x="5925007" y="0"/>
                  </a:moveTo>
                  <a:lnTo>
                    <a:pt x="18592" y="0"/>
                  </a:lnTo>
                  <a:lnTo>
                    <a:pt x="15849" y="546"/>
                  </a:lnTo>
                  <a:lnTo>
                    <a:pt x="0" y="18592"/>
                  </a:lnTo>
                  <a:lnTo>
                    <a:pt x="0" y="1931193"/>
                  </a:lnTo>
                  <a:lnTo>
                    <a:pt x="0" y="1934036"/>
                  </a:lnTo>
                  <a:lnTo>
                    <a:pt x="18592" y="1952625"/>
                  </a:lnTo>
                  <a:lnTo>
                    <a:pt x="5925007" y="1952625"/>
                  </a:lnTo>
                  <a:lnTo>
                    <a:pt x="5943600" y="1934036"/>
                  </a:lnTo>
                  <a:lnTo>
                    <a:pt x="5943600" y="18592"/>
                  </a:lnTo>
                  <a:lnTo>
                    <a:pt x="5927750" y="546"/>
                  </a:lnTo>
                  <a:lnTo>
                    <a:pt x="592500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057775" y="833437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40347" y="406"/>
                  </a:lnTo>
                  <a:lnTo>
                    <a:pt x="198742" y="6578"/>
                  </a:lnTo>
                  <a:lnTo>
                    <a:pt x="150977" y="22796"/>
                  </a:lnTo>
                  <a:lnTo>
                    <a:pt x="107289" y="48018"/>
                  </a:lnTo>
                  <a:lnTo>
                    <a:pt x="69367" y="81280"/>
                  </a:lnTo>
                  <a:lnTo>
                    <a:pt x="38658" y="121297"/>
                  </a:lnTo>
                  <a:lnTo>
                    <a:pt x="16357" y="166535"/>
                  </a:lnTo>
                  <a:lnTo>
                    <a:pt x="3302" y="215265"/>
                  </a:lnTo>
                  <a:lnTo>
                    <a:pt x="0" y="248754"/>
                  </a:lnTo>
                  <a:lnTo>
                    <a:pt x="0" y="257175"/>
                  </a:lnTo>
                  <a:lnTo>
                    <a:pt x="0" y="265595"/>
                  </a:lnTo>
                  <a:lnTo>
                    <a:pt x="6578" y="315607"/>
                  </a:lnTo>
                  <a:lnTo>
                    <a:pt x="22796" y="363372"/>
                  </a:lnTo>
                  <a:lnTo>
                    <a:pt x="48018" y="407060"/>
                  </a:lnTo>
                  <a:lnTo>
                    <a:pt x="81280" y="444982"/>
                  </a:lnTo>
                  <a:lnTo>
                    <a:pt x="121297" y="475678"/>
                  </a:lnTo>
                  <a:lnTo>
                    <a:pt x="166535" y="497992"/>
                  </a:lnTo>
                  <a:lnTo>
                    <a:pt x="215265" y="51104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15607" y="507758"/>
                  </a:lnTo>
                  <a:lnTo>
                    <a:pt x="363372" y="491553"/>
                  </a:lnTo>
                  <a:lnTo>
                    <a:pt x="407060" y="466331"/>
                  </a:lnTo>
                  <a:lnTo>
                    <a:pt x="444982" y="433070"/>
                  </a:lnTo>
                  <a:lnTo>
                    <a:pt x="475691" y="393052"/>
                  </a:lnTo>
                  <a:lnTo>
                    <a:pt x="498005" y="347802"/>
                  </a:lnTo>
                  <a:lnTo>
                    <a:pt x="511048" y="299085"/>
                  </a:lnTo>
                  <a:lnTo>
                    <a:pt x="514350" y="265595"/>
                  </a:lnTo>
                  <a:lnTo>
                    <a:pt x="514350" y="248754"/>
                  </a:lnTo>
                  <a:lnTo>
                    <a:pt x="507771" y="198742"/>
                  </a:lnTo>
                  <a:lnTo>
                    <a:pt x="491553" y="150977"/>
                  </a:lnTo>
                  <a:lnTo>
                    <a:pt x="466331" y="107289"/>
                  </a:lnTo>
                  <a:lnTo>
                    <a:pt x="433070" y="69367"/>
                  </a:lnTo>
                  <a:lnTo>
                    <a:pt x="393052" y="38658"/>
                  </a:lnTo>
                  <a:lnTo>
                    <a:pt x="347814" y="16344"/>
                  </a:lnTo>
                  <a:lnTo>
                    <a:pt x="299085" y="3302"/>
                  </a:lnTo>
                  <a:lnTo>
                    <a:pt x="274002" y="406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DCFF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55633" y="8472124"/>
              <a:ext cx="121464" cy="241682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045075" y="9012237"/>
            <a:ext cx="5588000" cy="8934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10" dirty="0">
                <a:solidFill>
                  <a:srgbClr val="E5E0DF"/>
                </a:solidFill>
                <a:latin typeface="Courier New"/>
                <a:cs typeface="Courier New"/>
              </a:rPr>
              <a:t>Advanced</a:t>
            </a:r>
            <a:r>
              <a:rPr sz="1650" spc="-229" dirty="0">
                <a:solidFill>
                  <a:srgbClr val="E5E0DF"/>
                </a:solidFill>
                <a:latin typeface="Courier New"/>
                <a:cs typeface="Courier New"/>
              </a:rPr>
              <a:t> </a:t>
            </a:r>
            <a:r>
              <a:rPr sz="1650" spc="-10" dirty="0">
                <a:solidFill>
                  <a:srgbClr val="E5E0DF"/>
                </a:solidFill>
                <a:latin typeface="Courier New"/>
                <a:cs typeface="Courier New"/>
              </a:rPr>
              <a:t>Algorithms</a:t>
            </a:r>
            <a:endParaRPr sz="1650">
              <a:latin typeface="Courier New"/>
              <a:cs typeface="Courier New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Integrates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 powerful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algorithms 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including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 decision trees, logistic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regression, 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neural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networks,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and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ensemble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methods.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25" name="object 25">
            <a:hlinkClick r:id="rId7"/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80244" y="100774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spc="-80" dirty="0"/>
              <a:t>Understanding</a:t>
            </a:r>
            <a:r>
              <a:rPr spc="-409" dirty="0"/>
              <a:t> </a:t>
            </a:r>
            <a:r>
              <a:rPr dirty="0"/>
              <a:t>the</a:t>
            </a:r>
            <a:r>
              <a:rPr spc="-405" dirty="0"/>
              <a:t> </a:t>
            </a:r>
            <a:r>
              <a:rPr spc="-30" dirty="0"/>
              <a:t>Data:</a:t>
            </a:r>
            <a:r>
              <a:rPr spc="-409" dirty="0"/>
              <a:t> </a:t>
            </a:r>
            <a:r>
              <a:rPr dirty="0"/>
              <a:t>Key</a:t>
            </a:r>
            <a:r>
              <a:rPr spc="-405" dirty="0"/>
              <a:t> </a:t>
            </a:r>
            <a:r>
              <a:rPr spc="-70" dirty="0"/>
              <a:t>Features</a:t>
            </a:r>
            <a:r>
              <a:rPr spc="-405" dirty="0"/>
              <a:t> </a:t>
            </a:r>
            <a:r>
              <a:rPr spc="-25" dirty="0"/>
              <a:t>for </a:t>
            </a:r>
            <a:r>
              <a:rPr spc="-30" dirty="0"/>
              <a:t>Churn</a:t>
            </a:r>
            <a:r>
              <a:rPr spc="-459" dirty="0"/>
              <a:t> </a:t>
            </a:r>
            <a:r>
              <a:rPr spc="-10" dirty="0"/>
              <a:t>Prediction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7375" y="1878964"/>
            <a:ext cx="1003744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A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comprehensive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dataset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forms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the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foundation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of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accurate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 churn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prediction.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Our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example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uses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b="1" spc="-20" dirty="0">
                <a:solidFill>
                  <a:srgbClr val="E5E0DF"/>
                </a:solidFill>
                <a:latin typeface="Roboto"/>
                <a:cs typeface="Roboto"/>
              </a:rPr>
              <a:t>10,000</a:t>
            </a:r>
            <a:r>
              <a:rPr sz="1350" b="1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b="1" spc="-10" dirty="0">
                <a:solidFill>
                  <a:srgbClr val="E5E0DF"/>
                </a:solidFill>
                <a:latin typeface="Roboto"/>
                <a:cs typeface="Roboto"/>
              </a:rPr>
              <a:t>bank</a:t>
            </a:r>
            <a:r>
              <a:rPr sz="1350" b="1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b="1" spc="-20" dirty="0">
                <a:solidFill>
                  <a:srgbClr val="E5E0DF"/>
                </a:solidFill>
                <a:latin typeface="Roboto"/>
                <a:cs typeface="Roboto"/>
              </a:rPr>
              <a:t>customers</a:t>
            </a:r>
            <a:r>
              <a:rPr sz="1350" b="1" spc="-3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with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14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critical features: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0075" y="2686049"/>
            <a:ext cx="3295650" cy="2028825"/>
            <a:chOff x="600075" y="2686049"/>
            <a:chExt cx="3295650" cy="2028825"/>
          </a:xfrm>
        </p:grpSpPr>
        <p:sp>
          <p:nvSpPr>
            <p:cNvPr id="6" name="object 6"/>
            <p:cNvSpPr/>
            <p:nvPr/>
          </p:nvSpPr>
          <p:spPr>
            <a:xfrm>
              <a:off x="609600" y="2695574"/>
              <a:ext cx="3276600" cy="2009775"/>
            </a:xfrm>
            <a:custGeom>
              <a:avLst/>
              <a:gdLst/>
              <a:ahLst/>
              <a:cxnLst/>
              <a:rect l="l" t="t" r="r" b="b"/>
              <a:pathLst>
                <a:path w="3276600" h="2009775">
                  <a:moveTo>
                    <a:pt x="3267976" y="0"/>
                  </a:moveTo>
                  <a:lnTo>
                    <a:pt x="8616" y="0"/>
                  </a:lnTo>
                  <a:lnTo>
                    <a:pt x="5814" y="1155"/>
                  </a:lnTo>
                  <a:lnTo>
                    <a:pt x="1160" y="5803"/>
                  </a:lnTo>
                  <a:lnTo>
                    <a:pt x="0" y="8623"/>
                  </a:lnTo>
                  <a:lnTo>
                    <a:pt x="0" y="1997875"/>
                  </a:lnTo>
                  <a:lnTo>
                    <a:pt x="0" y="2001151"/>
                  </a:lnTo>
                  <a:lnTo>
                    <a:pt x="1160" y="2003958"/>
                  </a:lnTo>
                  <a:lnTo>
                    <a:pt x="5814" y="2008606"/>
                  </a:lnTo>
                  <a:lnTo>
                    <a:pt x="8616" y="2009775"/>
                  </a:lnTo>
                  <a:lnTo>
                    <a:pt x="3267976" y="2009775"/>
                  </a:lnTo>
                  <a:lnTo>
                    <a:pt x="3270783" y="2008606"/>
                  </a:lnTo>
                  <a:lnTo>
                    <a:pt x="3275444" y="2003958"/>
                  </a:lnTo>
                  <a:lnTo>
                    <a:pt x="3276600" y="2001151"/>
                  </a:lnTo>
                  <a:lnTo>
                    <a:pt x="3276600" y="8623"/>
                  </a:lnTo>
                  <a:lnTo>
                    <a:pt x="3275444" y="5803"/>
                  </a:lnTo>
                  <a:lnTo>
                    <a:pt x="3273107" y="3492"/>
                  </a:lnTo>
                  <a:lnTo>
                    <a:pt x="3270783" y="1155"/>
                  </a:lnTo>
                  <a:lnTo>
                    <a:pt x="3267976" y="0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9600" y="2695574"/>
              <a:ext cx="3276600" cy="2009775"/>
            </a:xfrm>
            <a:custGeom>
              <a:avLst/>
              <a:gdLst/>
              <a:ahLst/>
              <a:cxnLst/>
              <a:rect l="l" t="t" r="r" b="b"/>
              <a:pathLst>
                <a:path w="3276600" h="2009775">
                  <a:moveTo>
                    <a:pt x="0" y="1997875"/>
                  </a:moveTo>
                  <a:lnTo>
                    <a:pt x="0" y="11912"/>
                  </a:lnTo>
                  <a:lnTo>
                    <a:pt x="0" y="8623"/>
                  </a:lnTo>
                  <a:lnTo>
                    <a:pt x="1160" y="5803"/>
                  </a:lnTo>
                  <a:lnTo>
                    <a:pt x="3487" y="3492"/>
                  </a:lnTo>
                  <a:lnTo>
                    <a:pt x="5814" y="1155"/>
                  </a:lnTo>
                  <a:lnTo>
                    <a:pt x="8616" y="0"/>
                  </a:lnTo>
                  <a:lnTo>
                    <a:pt x="11906" y="0"/>
                  </a:lnTo>
                  <a:lnTo>
                    <a:pt x="3264700" y="0"/>
                  </a:lnTo>
                  <a:lnTo>
                    <a:pt x="3267976" y="0"/>
                  </a:lnTo>
                  <a:lnTo>
                    <a:pt x="3270783" y="1155"/>
                  </a:lnTo>
                  <a:lnTo>
                    <a:pt x="3273107" y="3492"/>
                  </a:lnTo>
                  <a:lnTo>
                    <a:pt x="3275444" y="5803"/>
                  </a:lnTo>
                  <a:lnTo>
                    <a:pt x="3276600" y="8623"/>
                  </a:lnTo>
                  <a:lnTo>
                    <a:pt x="3276600" y="11912"/>
                  </a:lnTo>
                  <a:lnTo>
                    <a:pt x="3276600" y="1997875"/>
                  </a:lnTo>
                  <a:lnTo>
                    <a:pt x="3276600" y="2001151"/>
                  </a:lnTo>
                  <a:lnTo>
                    <a:pt x="3275444" y="2003958"/>
                  </a:lnTo>
                  <a:lnTo>
                    <a:pt x="3273107" y="2006282"/>
                  </a:lnTo>
                  <a:lnTo>
                    <a:pt x="3270783" y="2008606"/>
                  </a:lnTo>
                  <a:lnTo>
                    <a:pt x="3267976" y="2009775"/>
                  </a:lnTo>
                  <a:lnTo>
                    <a:pt x="3264700" y="2009775"/>
                  </a:lnTo>
                  <a:lnTo>
                    <a:pt x="11906" y="2009775"/>
                  </a:lnTo>
                  <a:lnTo>
                    <a:pt x="8616" y="2009775"/>
                  </a:lnTo>
                  <a:lnTo>
                    <a:pt x="5814" y="2008606"/>
                  </a:lnTo>
                  <a:lnTo>
                    <a:pt x="3487" y="2006282"/>
                  </a:lnTo>
                  <a:lnTo>
                    <a:pt x="1160" y="2003958"/>
                  </a:lnTo>
                  <a:lnTo>
                    <a:pt x="0" y="2001151"/>
                  </a:lnTo>
                  <a:lnTo>
                    <a:pt x="0" y="1997875"/>
                  </a:lnTo>
                  <a:close/>
                </a:path>
              </a:pathLst>
            </a:custGeom>
            <a:ln w="19050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28675" y="3362337"/>
              <a:ext cx="57150" cy="1057275"/>
            </a:xfrm>
            <a:custGeom>
              <a:avLst/>
              <a:gdLst/>
              <a:ahLst/>
              <a:cxnLst/>
              <a:rect l="l" t="t" r="r" b="b"/>
              <a:pathLst>
                <a:path w="57150" h="1057275">
                  <a:moveTo>
                    <a:pt x="57150" y="1024902"/>
                  </a:moveTo>
                  <a:lnTo>
                    <a:pt x="32359" y="1000112"/>
                  </a:lnTo>
                  <a:lnTo>
                    <a:pt x="24777" y="1000112"/>
                  </a:lnTo>
                  <a:lnTo>
                    <a:pt x="0" y="1024902"/>
                  </a:lnTo>
                  <a:lnTo>
                    <a:pt x="0" y="1032471"/>
                  </a:lnTo>
                  <a:lnTo>
                    <a:pt x="24777" y="1057262"/>
                  </a:lnTo>
                  <a:lnTo>
                    <a:pt x="32359" y="1057262"/>
                  </a:lnTo>
                  <a:lnTo>
                    <a:pt x="57150" y="1032471"/>
                  </a:lnTo>
                  <a:lnTo>
                    <a:pt x="57150" y="1028687"/>
                  </a:lnTo>
                  <a:lnTo>
                    <a:pt x="57150" y="1024902"/>
                  </a:lnTo>
                  <a:close/>
                </a:path>
                <a:path w="57150" h="1057275">
                  <a:moveTo>
                    <a:pt x="57150" y="691527"/>
                  </a:moveTo>
                  <a:lnTo>
                    <a:pt x="32359" y="666737"/>
                  </a:lnTo>
                  <a:lnTo>
                    <a:pt x="24777" y="666737"/>
                  </a:lnTo>
                  <a:lnTo>
                    <a:pt x="0" y="691527"/>
                  </a:lnTo>
                  <a:lnTo>
                    <a:pt x="0" y="699096"/>
                  </a:lnTo>
                  <a:lnTo>
                    <a:pt x="24777" y="723887"/>
                  </a:lnTo>
                  <a:lnTo>
                    <a:pt x="32359" y="723887"/>
                  </a:lnTo>
                  <a:lnTo>
                    <a:pt x="57150" y="699096"/>
                  </a:lnTo>
                  <a:lnTo>
                    <a:pt x="57150" y="695312"/>
                  </a:lnTo>
                  <a:lnTo>
                    <a:pt x="57150" y="691527"/>
                  </a:lnTo>
                  <a:close/>
                </a:path>
                <a:path w="57150" h="1057275">
                  <a:moveTo>
                    <a:pt x="57150" y="358165"/>
                  </a:moveTo>
                  <a:lnTo>
                    <a:pt x="32359" y="333375"/>
                  </a:lnTo>
                  <a:lnTo>
                    <a:pt x="24777" y="333375"/>
                  </a:lnTo>
                  <a:lnTo>
                    <a:pt x="0" y="358165"/>
                  </a:lnTo>
                  <a:lnTo>
                    <a:pt x="0" y="365734"/>
                  </a:lnTo>
                  <a:lnTo>
                    <a:pt x="24777" y="390525"/>
                  </a:lnTo>
                  <a:lnTo>
                    <a:pt x="32359" y="390525"/>
                  </a:lnTo>
                  <a:lnTo>
                    <a:pt x="57150" y="365734"/>
                  </a:lnTo>
                  <a:lnTo>
                    <a:pt x="57150" y="361950"/>
                  </a:lnTo>
                  <a:lnTo>
                    <a:pt x="57150" y="358165"/>
                  </a:lnTo>
                  <a:close/>
                </a:path>
                <a:path w="57150" h="1057275">
                  <a:moveTo>
                    <a:pt x="57150" y="24790"/>
                  </a:moveTo>
                  <a:lnTo>
                    <a:pt x="32359" y="0"/>
                  </a:lnTo>
                  <a:lnTo>
                    <a:pt x="24777" y="0"/>
                  </a:lnTo>
                  <a:lnTo>
                    <a:pt x="0" y="24790"/>
                  </a:lnTo>
                  <a:lnTo>
                    <a:pt x="0" y="32359"/>
                  </a:lnTo>
                  <a:lnTo>
                    <a:pt x="24777" y="57150"/>
                  </a:lnTo>
                  <a:lnTo>
                    <a:pt x="32359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90"/>
                  </a:lnTo>
                  <a:close/>
                </a:path>
              </a:pathLst>
            </a:custGeom>
            <a:solidFill>
              <a:srgbClr val="E5E0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77875" y="2868612"/>
            <a:ext cx="1986914" cy="16173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25" dirty="0">
                <a:solidFill>
                  <a:srgbClr val="E5E0DF"/>
                </a:solidFill>
                <a:latin typeface="Courier New"/>
                <a:cs typeface="Courier New"/>
              </a:rPr>
              <a:t>Demographic</a:t>
            </a:r>
            <a:r>
              <a:rPr sz="1650" spc="-140" dirty="0">
                <a:solidFill>
                  <a:srgbClr val="E5E0DF"/>
                </a:solidFill>
                <a:latin typeface="Courier New"/>
                <a:cs typeface="Courier New"/>
              </a:rPr>
              <a:t> </a:t>
            </a:r>
            <a:r>
              <a:rPr sz="1650" spc="-20" dirty="0">
                <a:solidFill>
                  <a:srgbClr val="E5E0DF"/>
                </a:solidFill>
                <a:latin typeface="Courier New"/>
                <a:cs typeface="Courier New"/>
              </a:rPr>
              <a:t>Data</a:t>
            </a:r>
            <a:endParaRPr sz="1650">
              <a:latin typeface="Courier New"/>
              <a:cs typeface="Courier New"/>
            </a:endParaRPr>
          </a:p>
          <a:p>
            <a:pPr marL="286385" marR="777875">
              <a:lnSpc>
                <a:spcPct val="162000"/>
              </a:lnSpc>
              <a:spcBef>
                <a:spcPts val="15"/>
              </a:spcBef>
            </a:pP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Credit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Score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Age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Geography Gender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067175" y="2686049"/>
            <a:ext cx="3295650" cy="2028825"/>
            <a:chOff x="4067175" y="2686049"/>
            <a:chExt cx="3295650" cy="2028825"/>
          </a:xfrm>
        </p:grpSpPr>
        <p:sp>
          <p:nvSpPr>
            <p:cNvPr id="11" name="object 11"/>
            <p:cNvSpPr/>
            <p:nvPr/>
          </p:nvSpPr>
          <p:spPr>
            <a:xfrm>
              <a:off x="4076700" y="2695574"/>
              <a:ext cx="3276600" cy="2009775"/>
            </a:xfrm>
            <a:custGeom>
              <a:avLst/>
              <a:gdLst/>
              <a:ahLst/>
              <a:cxnLst/>
              <a:rect l="l" t="t" r="r" b="b"/>
              <a:pathLst>
                <a:path w="3276600" h="2009775">
                  <a:moveTo>
                    <a:pt x="3267976" y="0"/>
                  </a:moveTo>
                  <a:lnTo>
                    <a:pt x="8623" y="0"/>
                  </a:lnTo>
                  <a:lnTo>
                    <a:pt x="5816" y="1155"/>
                  </a:lnTo>
                  <a:lnTo>
                    <a:pt x="3492" y="3492"/>
                  </a:lnTo>
                  <a:lnTo>
                    <a:pt x="1155" y="5803"/>
                  </a:lnTo>
                  <a:lnTo>
                    <a:pt x="0" y="8623"/>
                  </a:lnTo>
                  <a:lnTo>
                    <a:pt x="0" y="1997875"/>
                  </a:lnTo>
                  <a:lnTo>
                    <a:pt x="0" y="2001151"/>
                  </a:lnTo>
                  <a:lnTo>
                    <a:pt x="1155" y="2003958"/>
                  </a:lnTo>
                  <a:lnTo>
                    <a:pt x="5816" y="2008606"/>
                  </a:lnTo>
                  <a:lnTo>
                    <a:pt x="8623" y="2009775"/>
                  </a:lnTo>
                  <a:lnTo>
                    <a:pt x="3267976" y="2009775"/>
                  </a:lnTo>
                  <a:lnTo>
                    <a:pt x="3270783" y="2008606"/>
                  </a:lnTo>
                  <a:lnTo>
                    <a:pt x="3275444" y="2003958"/>
                  </a:lnTo>
                  <a:lnTo>
                    <a:pt x="3276600" y="2001151"/>
                  </a:lnTo>
                  <a:lnTo>
                    <a:pt x="3276600" y="8623"/>
                  </a:lnTo>
                  <a:lnTo>
                    <a:pt x="3275444" y="5803"/>
                  </a:lnTo>
                  <a:lnTo>
                    <a:pt x="3273107" y="3492"/>
                  </a:lnTo>
                  <a:lnTo>
                    <a:pt x="3270783" y="1155"/>
                  </a:lnTo>
                  <a:lnTo>
                    <a:pt x="3267976" y="0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76700" y="2695574"/>
              <a:ext cx="3276600" cy="2009775"/>
            </a:xfrm>
            <a:custGeom>
              <a:avLst/>
              <a:gdLst/>
              <a:ahLst/>
              <a:cxnLst/>
              <a:rect l="l" t="t" r="r" b="b"/>
              <a:pathLst>
                <a:path w="3276600" h="2009775">
                  <a:moveTo>
                    <a:pt x="0" y="1997875"/>
                  </a:moveTo>
                  <a:lnTo>
                    <a:pt x="0" y="11912"/>
                  </a:lnTo>
                  <a:lnTo>
                    <a:pt x="0" y="8623"/>
                  </a:lnTo>
                  <a:lnTo>
                    <a:pt x="1155" y="5803"/>
                  </a:lnTo>
                  <a:lnTo>
                    <a:pt x="3492" y="3492"/>
                  </a:lnTo>
                  <a:lnTo>
                    <a:pt x="5816" y="1155"/>
                  </a:lnTo>
                  <a:lnTo>
                    <a:pt x="8623" y="0"/>
                  </a:lnTo>
                  <a:lnTo>
                    <a:pt x="11912" y="0"/>
                  </a:lnTo>
                  <a:lnTo>
                    <a:pt x="3264700" y="0"/>
                  </a:lnTo>
                  <a:lnTo>
                    <a:pt x="3267976" y="0"/>
                  </a:lnTo>
                  <a:lnTo>
                    <a:pt x="3270783" y="1155"/>
                  </a:lnTo>
                  <a:lnTo>
                    <a:pt x="3273107" y="3492"/>
                  </a:lnTo>
                  <a:lnTo>
                    <a:pt x="3275444" y="5803"/>
                  </a:lnTo>
                  <a:lnTo>
                    <a:pt x="3276600" y="8623"/>
                  </a:lnTo>
                  <a:lnTo>
                    <a:pt x="3276600" y="11912"/>
                  </a:lnTo>
                  <a:lnTo>
                    <a:pt x="3276600" y="1997875"/>
                  </a:lnTo>
                  <a:lnTo>
                    <a:pt x="3276600" y="2001151"/>
                  </a:lnTo>
                  <a:lnTo>
                    <a:pt x="3275444" y="2003958"/>
                  </a:lnTo>
                  <a:lnTo>
                    <a:pt x="3273107" y="2006282"/>
                  </a:lnTo>
                  <a:lnTo>
                    <a:pt x="3270783" y="2008606"/>
                  </a:lnTo>
                  <a:lnTo>
                    <a:pt x="3267976" y="2009775"/>
                  </a:lnTo>
                  <a:lnTo>
                    <a:pt x="3264700" y="2009775"/>
                  </a:lnTo>
                  <a:lnTo>
                    <a:pt x="11912" y="2009775"/>
                  </a:lnTo>
                  <a:lnTo>
                    <a:pt x="8623" y="2009775"/>
                  </a:lnTo>
                  <a:lnTo>
                    <a:pt x="5816" y="2008606"/>
                  </a:lnTo>
                  <a:lnTo>
                    <a:pt x="3492" y="2006282"/>
                  </a:lnTo>
                  <a:lnTo>
                    <a:pt x="1155" y="2003958"/>
                  </a:lnTo>
                  <a:lnTo>
                    <a:pt x="0" y="2001151"/>
                  </a:lnTo>
                  <a:lnTo>
                    <a:pt x="0" y="1997875"/>
                  </a:lnTo>
                  <a:close/>
                </a:path>
              </a:pathLst>
            </a:custGeom>
            <a:ln w="19050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95775" y="3362337"/>
              <a:ext cx="57150" cy="1057275"/>
            </a:xfrm>
            <a:custGeom>
              <a:avLst/>
              <a:gdLst/>
              <a:ahLst/>
              <a:cxnLst/>
              <a:rect l="l" t="t" r="r" b="b"/>
              <a:pathLst>
                <a:path w="57150" h="1057275">
                  <a:moveTo>
                    <a:pt x="57150" y="1024902"/>
                  </a:moveTo>
                  <a:lnTo>
                    <a:pt x="32359" y="1000112"/>
                  </a:lnTo>
                  <a:lnTo>
                    <a:pt x="24790" y="1000112"/>
                  </a:lnTo>
                  <a:lnTo>
                    <a:pt x="0" y="1024902"/>
                  </a:lnTo>
                  <a:lnTo>
                    <a:pt x="0" y="1032471"/>
                  </a:lnTo>
                  <a:lnTo>
                    <a:pt x="24790" y="1057262"/>
                  </a:lnTo>
                  <a:lnTo>
                    <a:pt x="32359" y="1057262"/>
                  </a:lnTo>
                  <a:lnTo>
                    <a:pt x="57150" y="1032471"/>
                  </a:lnTo>
                  <a:lnTo>
                    <a:pt x="57150" y="1028687"/>
                  </a:lnTo>
                  <a:lnTo>
                    <a:pt x="57150" y="1024902"/>
                  </a:lnTo>
                  <a:close/>
                </a:path>
                <a:path w="57150" h="1057275">
                  <a:moveTo>
                    <a:pt x="57150" y="691527"/>
                  </a:moveTo>
                  <a:lnTo>
                    <a:pt x="32359" y="666737"/>
                  </a:lnTo>
                  <a:lnTo>
                    <a:pt x="24790" y="666737"/>
                  </a:lnTo>
                  <a:lnTo>
                    <a:pt x="0" y="691527"/>
                  </a:lnTo>
                  <a:lnTo>
                    <a:pt x="0" y="699096"/>
                  </a:lnTo>
                  <a:lnTo>
                    <a:pt x="24790" y="723887"/>
                  </a:lnTo>
                  <a:lnTo>
                    <a:pt x="32359" y="723887"/>
                  </a:lnTo>
                  <a:lnTo>
                    <a:pt x="57150" y="699096"/>
                  </a:lnTo>
                  <a:lnTo>
                    <a:pt x="57150" y="695312"/>
                  </a:lnTo>
                  <a:lnTo>
                    <a:pt x="57150" y="691527"/>
                  </a:lnTo>
                  <a:close/>
                </a:path>
                <a:path w="57150" h="1057275">
                  <a:moveTo>
                    <a:pt x="57150" y="358165"/>
                  </a:moveTo>
                  <a:lnTo>
                    <a:pt x="32359" y="333375"/>
                  </a:lnTo>
                  <a:lnTo>
                    <a:pt x="24790" y="333375"/>
                  </a:lnTo>
                  <a:lnTo>
                    <a:pt x="0" y="358165"/>
                  </a:lnTo>
                  <a:lnTo>
                    <a:pt x="0" y="365734"/>
                  </a:lnTo>
                  <a:lnTo>
                    <a:pt x="24790" y="390525"/>
                  </a:lnTo>
                  <a:lnTo>
                    <a:pt x="32359" y="390525"/>
                  </a:lnTo>
                  <a:lnTo>
                    <a:pt x="57150" y="365734"/>
                  </a:lnTo>
                  <a:lnTo>
                    <a:pt x="57150" y="361950"/>
                  </a:lnTo>
                  <a:lnTo>
                    <a:pt x="57150" y="358165"/>
                  </a:lnTo>
                  <a:close/>
                </a:path>
                <a:path w="57150" h="1057275">
                  <a:moveTo>
                    <a:pt x="57150" y="24790"/>
                  </a:moveTo>
                  <a:lnTo>
                    <a:pt x="32359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32359"/>
                  </a:lnTo>
                  <a:lnTo>
                    <a:pt x="24790" y="57150"/>
                  </a:lnTo>
                  <a:lnTo>
                    <a:pt x="32359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90"/>
                  </a:lnTo>
                  <a:close/>
                </a:path>
              </a:pathLst>
            </a:custGeom>
            <a:solidFill>
              <a:srgbClr val="E5E0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244975" y="2868612"/>
            <a:ext cx="2109470" cy="16173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20" dirty="0">
                <a:solidFill>
                  <a:srgbClr val="E5E0DF"/>
                </a:solidFill>
                <a:latin typeface="Courier New"/>
                <a:cs typeface="Courier New"/>
              </a:rPr>
              <a:t>Financial</a:t>
            </a:r>
            <a:r>
              <a:rPr sz="1650" spc="-165" dirty="0">
                <a:solidFill>
                  <a:srgbClr val="E5E0DF"/>
                </a:solidFill>
                <a:latin typeface="Courier New"/>
                <a:cs typeface="Courier New"/>
              </a:rPr>
              <a:t> </a:t>
            </a:r>
            <a:r>
              <a:rPr sz="1650" spc="-10" dirty="0">
                <a:solidFill>
                  <a:srgbClr val="E5E0DF"/>
                </a:solidFill>
                <a:latin typeface="Courier New"/>
                <a:cs typeface="Courier New"/>
              </a:rPr>
              <a:t>Profile</a:t>
            </a:r>
            <a:endParaRPr sz="1650">
              <a:latin typeface="Courier New"/>
              <a:cs typeface="Courier New"/>
            </a:endParaRPr>
          </a:p>
          <a:p>
            <a:pPr marL="286385" marR="140335">
              <a:lnSpc>
                <a:spcPct val="162000"/>
              </a:lnSpc>
              <a:spcBef>
                <a:spcPts val="15"/>
              </a:spcBef>
            </a:pP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Account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Balance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Estimated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 Salary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Number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of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Products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Credit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Card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Ownership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534275" y="2686049"/>
            <a:ext cx="3295650" cy="2028825"/>
            <a:chOff x="7534275" y="2686049"/>
            <a:chExt cx="3295650" cy="2028825"/>
          </a:xfrm>
        </p:grpSpPr>
        <p:sp>
          <p:nvSpPr>
            <p:cNvPr id="16" name="object 16"/>
            <p:cNvSpPr/>
            <p:nvPr/>
          </p:nvSpPr>
          <p:spPr>
            <a:xfrm>
              <a:off x="7543800" y="2695574"/>
              <a:ext cx="3276600" cy="2009775"/>
            </a:xfrm>
            <a:custGeom>
              <a:avLst/>
              <a:gdLst/>
              <a:ahLst/>
              <a:cxnLst/>
              <a:rect l="l" t="t" r="r" b="b"/>
              <a:pathLst>
                <a:path w="3276600" h="2009775">
                  <a:moveTo>
                    <a:pt x="3267976" y="0"/>
                  </a:moveTo>
                  <a:lnTo>
                    <a:pt x="8623" y="0"/>
                  </a:lnTo>
                  <a:lnTo>
                    <a:pt x="5803" y="1155"/>
                  </a:lnTo>
                  <a:lnTo>
                    <a:pt x="3492" y="3492"/>
                  </a:lnTo>
                  <a:lnTo>
                    <a:pt x="1155" y="5803"/>
                  </a:lnTo>
                  <a:lnTo>
                    <a:pt x="0" y="8623"/>
                  </a:lnTo>
                  <a:lnTo>
                    <a:pt x="0" y="1997875"/>
                  </a:lnTo>
                  <a:lnTo>
                    <a:pt x="0" y="2001151"/>
                  </a:lnTo>
                  <a:lnTo>
                    <a:pt x="1155" y="2003958"/>
                  </a:lnTo>
                  <a:lnTo>
                    <a:pt x="5803" y="2008606"/>
                  </a:lnTo>
                  <a:lnTo>
                    <a:pt x="8623" y="2009775"/>
                  </a:lnTo>
                  <a:lnTo>
                    <a:pt x="3267976" y="2009775"/>
                  </a:lnTo>
                  <a:lnTo>
                    <a:pt x="3270783" y="2008606"/>
                  </a:lnTo>
                  <a:lnTo>
                    <a:pt x="3275431" y="2003958"/>
                  </a:lnTo>
                  <a:lnTo>
                    <a:pt x="3276600" y="2001151"/>
                  </a:lnTo>
                  <a:lnTo>
                    <a:pt x="3276600" y="8623"/>
                  </a:lnTo>
                  <a:lnTo>
                    <a:pt x="3275431" y="5803"/>
                  </a:lnTo>
                  <a:lnTo>
                    <a:pt x="3270783" y="1155"/>
                  </a:lnTo>
                  <a:lnTo>
                    <a:pt x="3267976" y="0"/>
                  </a:lnTo>
                  <a:close/>
                </a:path>
              </a:pathLst>
            </a:custGeom>
            <a:solidFill>
              <a:srgbClr val="2020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543800" y="2695574"/>
              <a:ext cx="3276600" cy="2009775"/>
            </a:xfrm>
            <a:custGeom>
              <a:avLst/>
              <a:gdLst/>
              <a:ahLst/>
              <a:cxnLst/>
              <a:rect l="l" t="t" r="r" b="b"/>
              <a:pathLst>
                <a:path w="3276600" h="2009775">
                  <a:moveTo>
                    <a:pt x="0" y="1997875"/>
                  </a:moveTo>
                  <a:lnTo>
                    <a:pt x="0" y="11912"/>
                  </a:lnTo>
                  <a:lnTo>
                    <a:pt x="0" y="8623"/>
                  </a:lnTo>
                  <a:lnTo>
                    <a:pt x="1155" y="5803"/>
                  </a:lnTo>
                  <a:lnTo>
                    <a:pt x="3492" y="3492"/>
                  </a:lnTo>
                  <a:lnTo>
                    <a:pt x="5803" y="1155"/>
                  </a:lnTo>
                  <a:lnTo>
                    <a:pt x="8623" y="0"/>
                  </a:lnTo>
                  <a:lnTo>
                    <a:pt x="11912" y="0"/>
                  </a:lnTo>
                  <a:lnTo>
                    <a:pt x="3264700" y="0"/>
                  </a:lnTo>
                  <a:lnTo>
                    <a:pt x="3267976" y="0"/>
                  </a:lnTo>
                  <a:lnTo>
                    <a:pt x="3270783" y="1155"/>
                  </a:lnTo>
                  <a:lnTo>
                    <a:pt x="3273107" y="3492"/>
                  </a:lnTo>
                  <a:lnTo>
                    <a:pt x="3275431" y="5803"/>
                  </a:lnTo>
                  <a:lnTo>
                    <a:pt x="3276600" y="8623"/>
                  </a:lnTo>
                  <a:lnTo>
                    <a:pt x="3276600" y="11912"/>
                  </a:lnTo>
                  <a:lnTo>
                    <a:pt x="3276600" y="1997875"/>
                  </a:lnTo>
                  <a:lnTo>
                    <a:pt x="3276600" y="2001151"/>
                  </a:lnTo>
                  <a:lnTo>
                    <a:pt x="3275431" y="2003958"/>
                  </a:lnTo>
                  <a:lnTo>
                    <a:pt x="3273107" y="2006282"/>
                  </a:lnTo>
                  <a:lnTo>
                    <a:pt x="3270783" y="2008606"/>
                  </a:lnTo>
                  <a:lnTo>
                    <a:pt x="3267976" y="2009775"/>
                  </a:lnTo>
                  <a:lnTo>
                    <a:pt x="3264700" y="2009775"/>
                  </a:lnTo>
                  <a:lnTo>
                    <a:pt x="11912" y="2009775"/>
                  </a:lnTo>
                  <a:lnTo>
                    <a:pt x="8623" y="2009775"/>
                  </a:lnTo>
                  <a:lnTo>
                    <a:pt x="5803" y="2008606"/>
                  </a:lnTo>
                  <a:lnTo>
                    <a:pt x="3492" y="2006282"/>
                  </a:lnTo>
                  <a:lnTo>
                    <a:pt x="1155" y="2003958"/>
                  </a:lnTo>
                  <a:lnTo>
                    <a:pt x="0" y="2001151"/>
                  </a:lnTo>
                  <a:lnTo>
                    <a:pt x="0" y="1997875"/>
                  </a:lnTo>
                  <a:close/>
                </a:path>
              </a:pathLst>
            </a:custGeom>
            <a:ln w="19050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62875" y="3362337"/>
              <a:ext cx="57150" cy="723900"/>
            </a:xfrm>
            <a:custGeom>
              <a:avLst/>
              <a:gdLst/>
              <a:ahLst/>
              <a:cxnLst/>
              <a:rect l="l" t="t" r="r" b="b"/>
              <a:pathLst>
                <a:path w="57150" h="723900">
                  <a:moveTo>
                    <a:pt x="57150" y="691527"/>
                  </a:moveTo>
                  <a:lnTo>
                    <a:pt x="32359" y="666737"/>
                  </a:lnTo>
                  <a:lnTo>
                    <a:pt x="24790" y="666737"/>
                  </a:lnTo>
                  <a:lnTo>
                    <a:pt x="0" y="691527"/>
                  </a:lnTo>
                  <a:lnTo>
                    <a:pt x="0" y="699096"/>
                  </a:lnTo>
                  <a:lnTo>
                    <a:pt x="24790" y="723887"/>
                  </a:lnTo>
                  <a:lnTo>
                    <a:pt x="32359" y="723887"/>
                  </a:lnTo>
                  <a:lnTo>
                    <a:pt x="57150" y="699096"/>
                  </a:lnTo>
                  <a:lnTo>
                    <a:pt x="57150" y="695312"/>
                  </a:lnTo>
                  <a:lnTo>
                    <a:pt x="57150" y="691527"/>
                  </a:lnTo>
                  <a:close/>
                </a:path>
                <a:path w="57150" h="723900">
                  <a:moveTo>
                    <a:pt x="57150" y="358165"/>
                  </a:moveTo>
                  <a:lnTo>
                    <a:pt x="32359" y="333375"/>
                  </a:lnTo>
                  <a:lnTo>
                    <a:pt x="24790" y="333375"/>
                  </a:lnTo>
                  <a:lnTo>
                    <a:pt x="0" y="358165"/>
                  </a:lnTo>
                  <a:lnTo>
                    <a:pt x="0" y="365734"/>
                  </a:lnTo>
                  <a:lnTo>
                    <a:pt x="24790" y="390525"/>
                  </a:lnTo>
                  <a:lnTo>
                    <a:pt x="32359" y="390525"/>
                  </a:lnTo>
                  <a:lnTo>
                    <a:pt x="57150" y="365734"/>
                  </a:lnTo>
                  <a:lnTo>
                    <a:pt x="57150" y="361950"/>
                  </a:lnTo>
                  <a:lnTo>
                    <a:pt x="57150" y="358165"/>
                  </a:lnTo>
                  <a:close/>
                </a:path>
                <a:path w="57150" h="723900">
                  <a:moveTo>
                    <a:pt x="57150" y="24790"/>
                  </a:moveTo>
                  <a:lnTo>
                    <a:pt x="32359" y="0"/>
                  </a:lnTo>
                  <a:lnTo>
                    <a:pt x="24790" y="0"/>
                  </a:lnTo>
                  <a:lnTo>
                    <a:pt x="0" y="24790"/>
                  </a:lnTo>
                  <a:lnTo>
                    <a:pt x="0" y="32359"/>
                  </a:lnTo>
                  <a:lnTo>
                    <a:pt x="24790" y="57150"/>
                  </a:lnTo>
                  <a:lnTo>
                    <a:pt x="32359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90"/>
                  </a:lnTo>
                  <a:close/>
                </a:path>
              </a:pathLst>
            </a:custGeom>
            <a:solidFill>
              <a:srgbClr val="E5E0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712075" y="2868612"/>
            <a:ext cx="2597785" cy="12839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20" dirty="0">
                <a:solidFill>
                  <a:srgbClr val="E5E0DF"/>
                </a:solidFill>
                <a:latin typeface="Courier New"/>
                <a:cs typeface="Courier New"/>
              </a:rPr>
              <a:t>Behavioral</a:t>
            </a:r>
            <a:r>
              <a:rPr sz="1650" spc="-180" dirty="0">
                <a:solidFill>
                  <a:srgbClr val="E5E0DF"/>
                </a:solidFill>
                <a:latin typeface="Courier New"/>
                <a:cs typeface="Courier New"/>
              </a:rPr>
              <a:t> </a:t>
            </a:r>
            <a:r>
              <a:rPr sz="1650" spc="-10" dirty="0">
                <a:solidFill>
                  <a:srgbClr val="E5E0DF"/>
                </a:solidFill>
                <a:latin typeface="Courier New"/>
                <a:cs typeface="Courier New"/>
              </a:rPr>
              <a:t>Indicators</a:t>
            </a:r>
            <a:endParaRPr sz="1650">
              <a:latin typeface="Courier New"/>
              <a:cs typeface="Courier New"/>
            </a:endParaRPr>
          </a:p>
          <a:p>
            <a:pPr marL="286385">
              <a:lnSpc>
                <a:spcPct val="100000"/>
              </a:lnSpc>
              <a:spcBef>
                <a:spcPts val="1019"/>
              </a:spcBef>
            </a:pP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Activity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Status</a:t>
            </a:r>
            <a:endParaRPr sz="1350">
              <a:latin typeface="Roboto"/>
              <a:cs typeface="Roboto"/>
            </a:endParaRPr>
          </a:p>
          <a:p>
            <a:pPr marL="286385" marR="471805">
              <a:lnSpc>
                <a:spcPct val="162000"/>
              </a:lnSpc>
            </a:pP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Tenure</a:t>
            </a:r>
            <a:r>
              <a:rPr sz="1350" spc="-5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(years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with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bank) Churn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Label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(Yes/No)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00075" y="4905375"/>
            <a:ext cx="10229850" cy="1000125"/>
            <a:chOff x="600075" y="4905375"/>
            <a:chExt cx="10229850" cy="1000125"/>
          </a:xfrm>
        </p:grpSpPr>
        <p:sp>
          <p:nvSpPr>
            <p:cNvPr id="21" name="object 21"/>
            <p:cNvSpPr/>
            <p:nvPr/>
          </p:nvSpPr>
          <p:spPr>
            <a:xfrm>
              <a:off x="600075" y="4905375"/>
              <a:ext cx="10229850" cy="1000125"/>
            </a:xfrm>
            <a:custGeom>
              <a:avLst/>
              <a:gdLst/>
              <a:ahLst/>
              <a:cxnLst/>
              <a:rect l="l" t="t" r="r" b="b"/>
              <a:pathLst>
                <a:path w="10229850" h="1000125">
                  <a:moveTo>
                    <a:pt x="10211257" y="0"/>
                  </a:moveTo>
                  <a:lnTo>
                    <a:pt x="18588" y="0"/>
                  </a:lnTo>
                  <a:lnTo>
                    <a:pt x="15854" y="546"/>
                  </a:lnTo>
                  <a:lnTo>
                    <a:pt x="0" y="18592"/>
                  </a:lnTo>
                  <a:lnTo>
                    <a:pt x="0" y="978695"/>
                  </a:lnTo>
                  <a:lnTo>
                    <a:pt x="0" y="981532"/>
                  </a:lnTo>
                  <a:lnTo>
                    <a:pt x="18588" y="1000126"/>
                  </a:lnTo>
                  <a:lnTo>
                    <a:pt x="10211257" y="1000126"/>
                  </a:lnTo>
                  <a:lnTo>
                    <a:pt x="10229850" y="981532"/>
                  </a:lnTo>
                  <a:lnTo>
                    <a:pt x="10229850" y="18592"/>
                  </a:lnTo>
                  <a:lnTo>
                    <a:pt x="10214000" y="546"/>
                  </a:lnTo>
                  <a:lnTo>
                    <a:pt x="10211257" y="0"/>
                  </a:lnTo>
                  <a:close/>
                </a:path>
              </a:pathLst>
            </a:custGeom>
            <a:solidFill>
              <a:srgbClr val="3D4D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3672" y="5173266"/>
              <a:ext cx="150018" cy="150018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144587" y="5069841"/>
            <a:ext cx="8980805" cy="558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600"/>
              </a:lnSpc>
              <a:spcBef>
                <a:spcPts val="100"/>
              </a:spcBef>
            </a:pPr>
            <a:r>
              <a:rPr sz="1350" spc="-10" dirty="0">
                <a:solidFill>
                  <a:srgbClr val="FFFFFF"/>
                </a:solidFill>
                <a:latin typeface="Roboto"/>
                <a:cs typeface="Roboto"/>
              </a:rPr>
              <a:t>The</a:t>
            </a:r>
            <a:r>
              <a:rPr sz="135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FFFFFF"/>
                </a:solidFill>
                <a:latin typeface="Roboto"/>
                <a:cs typeface="Roboto"/>
              </a:rPr>
              <a:t>importance</a:t>
            </a:r>
            <a:r>
              <a:rPr sz="135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FFFFFF"/>
                </a:solidFill>
                <a:latin typeface="Roboto"/>
                <a:cs typeface="Roboto"/>
              </a:rPr>
              <a:t>of</a:t>
            </a:r>
            <a:r>
              <a:rPr sz="135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FFFFFF"/>
                </a:solidFill>
                <a:latin typeface="Roboto"/>
                <a:cs typeface="Roboto"/>
              </a:rPr>
              <a:t>clean,</a:t>
            </a:r>
            <a:r>
              <a:rPr sz="135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spc="-80" dirty="0">
                <a:solidFill>
                  <a:srgbClr val="FFFFFF"/>
                </a:solidFill>
                <a:latin typeface="Roboto"/>
                <a:cs typeface="Roboto"/>
              </a:rPr>
              <a:t>well-</a:t>
            </a:r>
            <a:r>
              <a:rPr sz="1350" spc="-25" dirty="0">
                <a:solidFill>
                  <a:srgbClr val="FFFFFF"/>
                </a:solidFill>
                <a:latin typeface="Roboto"/>
                <a:cs typeface="Roboto"/>
              </a:rPr>
              <a:t>prepared</a:t>
            </a:r>
            <a:r>
              <a:rPr sz="135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Roboto"/>
                <a:cs typeface="Roboto"/>
              </a:rPr>
              <a:t>data</a:t>
            </a:r>
            <a:r>
              <a:rPr sz="135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FFFFFF"/>
                </a:solidFill>
                <a:latin typeface="Roboto"/>
                <a:cs typeface="Roboto"/>
              </a:rPr>
              <a:t>cannot</a:t>
            </a:r>
            <a:r>
              <a:rPr sz="135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FFFFFF"/>
                </a:solidFill>
                <a:latin typeface="Roboto"/>
                <a:cs typeface="Roboto"/>
              </a:rPr>
              <a:t>be</a:t>
            </a:r>
            <a:r>
              <a:rPr sz="135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Roboto"/>
                <a:cs typeface="Roboto"/>
              </a:rPr>
              <a:t>overstated4it's</a:t>
            </a:r>
            <a:r>
              <a:rPr sz="135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Roboto"/>
                <a:cs typeface="Roboto"/>
              </a:rPr>
              <a:t>the</a:t>
            </a:r>
            <a:r>
              <a:rPr sz="135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FFFFFF"/>
                </a:solidFill>
                <a:latin typeface="Roboto"/>
                <a:cs typeface="Roboto"/>
              </a:rPr>
              <a:t>cornerstone</a:t>
            </a:r>
            <a:r>
              <a:rPr sz="135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FFFFFF"/>
                </a:solidFill>
                <a:latin typeface="Roboto"/>
                <a:cs typeface="Roboto"/>
              </a:rPr>
              <a:t>of</a:t>
            </a:r>
            <a:r>
              <a:rPr sz="135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FFFFFF"/>
                </a:solidFill>
                <a:latin typeface="Roboto"/>
                <a:cs typeface="Roboto"/>
              </a:rPr>
              <a:t>accurate</a:t>
            </a:r>
            <a:r>
              <a:rPr sz="135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FFFFFF"/>
                </a:solidFill>
                <a:latin typeface="Roboto"/>
                <a:cs typeface="Roboto"/>
              </a:rPr>
              <a:t>modeling</a:t>
            </a:r>
            <a:r>
              <a:rPr sz="135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Roboto"/>
                <a:cs typeface="Roboto"/>
              </a:rPr>
              <a:t>and</a:t>
            </a:r>
            <a:r>
              <a:rPr sz="135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Roboto"/>
                <a:cs typeface="Roboto"/>
              </a:rPr>
              <a:t>reliable predictions.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24" name="object 24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572500"/>
          </a:xfrm>
          <a:custGeom>
            <a:avLst/>
            <a:gdLst/>
            <a:ahLst/>
            <a:cxnLst/>
            <a:rect l="l" t="t" r="r" b="b"/>
            <a:pathLst>
              <a:path w="11430000" h="8572500">
                <a:moveTo>
                  <a:pt x="11430000" y="0"/>
                </a:moveTo>
                <a:lnTo>
                  <a:pt x="0" y="0"/>
                </a:lnTo>
                <a:lnTo>
                  <a:pt x="0" y="8572500"/>
                </a:lnTo>
                <a:lnTo>
                  <a:pt x="11430000" y="85725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857224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298950" marR="5080">
              <a:lnSpc>
                <a:spcPts val="4200"/>
              </a:lnSpc>
              <a:spcBef>
                <a:spcPts val="50"/>
              </a:spcBef>
            </a:pPr>
            <a:r>
              <a:rPr spc="-10" dirty="0"/>
              <a:t>Data</a:t>
            </a:r>
            <a:r>
              <a:rPr spc="-405" dirty="0"/>
              <a:t> </a:t>
            </a:r>
            <a:r>
              <a:rPr spc="-75" dirty="0"/>
              <a:t>Preparation</a:t>
            </a:r>
            <a:r>
              <a:rPr spc="-390" dirty="0"/>
              <a:t> </a:t>
            </a:r>
            <a:r>
              <a:rPr dirty="0"/>
              <a:t>in</a:t>
            </a:r>
            <a:r>
              <a:rPr spc="-390" dirty="0"/>
              <a:t> </a:t>
            </a:r>
            <a:r>
              <a:rPr spc="-20" dirty="0"/>
              <a:t>SPSS </a:t>
            </a:r>
            <a:r>
              <a:rPr spc="-10" dirty="0"/>
              <a:t>Modeler</a:t>
            </a:r>
          </a:p>
        </p:txBody>
      </p:sp>
      <p:sp>
        <p:nvSpPr>
          <p:cNvPr id="5" name="object 5"/>
          <p:cNvSpPr/>
          <p:nvPr/>
        </p:nvSpPr>
        <p:spPr>
          <a:xfrm>
            <a:off x="4886325" y="2076449"/>
            <a:ext cx="5943600" cy="19050"/>
          </a:xfrm>
          <a:custGeom>
            <a:avLst/>
            <a:gdLst/>
            <a:ahLst/>
            <a:cxnLst/>
            <a:rect l="l" t="t" r="r" b="b"/>
            <a:pathLst>
              <a:path w="5943600" h="19050">
                <a:moveTo>
                  <a:pt x="5943600" y="0"/>
                </a:moveTo>
                <a:lnTo>
                  <a:pt x="0" y="0"/>
                </a:lnTo>
                <a:lnTo>
                  <a:pt x="0" y="19050"/>
                </a:lnTo>
                <a:lnTo>
                  <a:pt x="5943600" y="19050"/>
                </a:lnTo>
                <a:lnTo>
                  <a:pt x="5943600" y="0"/>
                </a:lnTo>
                <a:close/>
              </a:path>
            </a:pathLst>
          </a:custGeom>
          <a:solidFill>
            <a:srgbClr val="DCFF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886325" y="3695700"/>
            <a:ext cx="5943600" cy="19050"/>
          </a:xfrm>
          <a:custGeom>
            <a:avLst/>
            <a:gdLst/>
            <a:ahLst/>
            <a:cxnLst/>
            <a:rect l="l" t="t" r="r" b="b"/>
            <a:pathLst>
              <a:path w="5943600" h="19050">
                <a:moveTo>
                  <a:pt x="5943600" y="0"/>
                </a:moveTo>
                <a:lnTo>
                  <a:pt x="0" y="0"/>
                </a:lnTo>
                <a:lnTo>
                  <a:pt x="0" y="19050"/>
                </a:lnTo>
                <a:lnTo>
                  <a:pt x="5943600" y="19050"/>
                </a:lnTo>
                <a:lnTo>
                  <a:pt x="5943600" y="0"/>
                </a:lnTo>
                <a:close/>
              </a:path>
            </a:pathLst>
          </a:custGeom>
          <a:solidFill>
            <a:srgbClr val="DCFF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886325" y="5305425"/>
            <a:ext cx="5943600" cy="19050"/>
          </a:xfrm>
          <a:custGeom>
            <a:avLst/>
            <a:gdLst/>
            <a:ahLst/>
            <a:cxnLst/>
            <a:rect l="l" t="t" r="r" b="b"/>
            <a:pathLst>
              <a:path w="5943600" h="19050">
                <a:moveTo>
                  <a:pt x="5943600" y="0"/>
                </a:moveTo>
                <a:lnTo>
                  <a:pt x="0" y="0"/>
                </a:lnTo>
                <a:lnTo>
                  <a:pt x="0" y="19050"/>
                </a:lnTo>
                <a:lnTo>
                  <a:pt x="5943600" y="19050"/>
                </a:lnTo>
                <a:lnTo>
                  <a:pt x="5943600" y="0"/>
                </a:lnTo>
                <a:close/>
              </a:path>
            </a:pathLst>
          </a:custGeom>
          <a:solidFill>
            <a:srgbClr val="DCFF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86325" y="6924675"/>
            <a:ext cx="5943600" cy="19050"/>
          </a:xfrm>
          <a:custGeom>
            <a:avLst/>
            <a:gdLst/>
            <a:ahLst/>
            <a:cxnLst/>
            <a:rect l="l" t="t" r="r" b="b"/>
            <a:pathLst>
              <a:path w="5943600" h="19050">
                <a:moveTo>
                  <a:pt x="5943600" y="0"/>
                </a:moveTo>
                <a:lnTo>
                  <a:pt x="0" y="0"/>
                </a:lnTo>
                <a:lnTo>
                  <a:pt x="0" y="19050"/>
                </a:lnTo>
                <a:lnTo>
                  <a:pt x="5943600" y="19050"/>
                </a:lnTo>
                <a:lnTo>
                  <a:pt x="5943600" y="0"/>
                </a:lnTo>
                <a:close/>
              </a:path>
            </a:pathLst>
          </a:custGeom>
          <a:solidFill>
            <a:srgbClr val="DCFF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861569" y="1787525"/>
            <a:ext cx="5638800" cy="6146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spc="-25" dirty="0">
                <a:solidFill>
                  <a:srgbClr val="E5E0DF"/>
                </a:solidFill>
                <a:latin typeface="Courier New"/>
                <a:cs typeface="Courier New"/>
              </a:rPr>
              <a:t>01</a:t>
            </a:r>
            <a:endParaRPr sz="13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350">
              <a:latin typeface="Courier New"/>
              <a:cs typeface="Courier New"/>
            </a:endParaRPr>
          </a:p>
          <a:p>
            <a:pPr marL="24130">
              <a:lnSpc>
                <a:spcPct val="100000"/>
              </a:lnSpc>
            </a:pPr>
            <a:r>
              <a:rPr sz="1650" dirty="0">
                <a:solidFill>
                  <a:srgbClr val="E5E0DF"/>
                </a:solidFill>
                <a:latin typeface="Courier New"/>
                <a:cs typeface="Courier New"/>
              </a:rPr>
              <a:t>Remove</a:t>
            </a:r>
            <a:r>
              <a:rPr sz="1650" spc="-210" dirty="0">
                <a:solidFill>
                  <a:srgbClr val="E5E0DF"/>
                </a:solidFill>
                <a:latin typeface="Courier New"/>
                <a:cs typeface="Courier New"/>
              </a:rPr>
              <a:t> </a:t>
            </a:r>
            <a:r>
              <a:rPr sz="1650" spc="-20" dirty="0">
                <a:solidFill>
                  <a:srgbClr val="E5E0DF"/>
                </a:solidFill>
                <a:latin typeface="Courier New"/>
                <a:cs typeface="Courier New"/>
              </a:rPr>
              <a:t>Irrelevant</a:t>
            </a:r>
            <a:r>
              <a:rPr sz="1650" spc="-204" dirty="0">
                <a:solidFill>
                  <a:srgbClr val="E5E0DF"/>
                </a:solidFill>
                <a:latin typeface="Courier New"/>
                <a:cs typeface="Courier New"/>
              </a:rPr>
              <a:t> </a:t>
            </a:r>
            <a:r>
              <a:rPr sz="1650" spc="-10" dirty="0">
                <a:solidFill>
                  <a:srgbClr val="E5E0DF"/>
                </a:solidFill>
                <a:latin typeface="Courier New"/>
                <a:cs typeface="Courier New"/>
              </a:rPr>
              <a:t>Fields</a:t>
            </a:r>
            <a:endParaRPr sz="1650">
              <a:latin typeface="Courier New"/>
              <a:cs typeface="Courier New"/>
            </a:endParaRPr>
          </a:p>
          <a:p>
            <a:pPr marL="24130" marR="69850">
              <a:lnSpc>
                <a:spcPct val="134300"/>
              </a:lnSpc>
              <a:spcBef>
                <a:spcPts val="465"/>
              </a:spcBef>
            </a:pP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Strip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out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95" dirty="0">
                <a:solidFill>
                  <a:srgbClr val="E5E0DF"/>
                </a:solidFill>
                <a:latin typeface="Roboto"/>
                <a:cs typeface="Roboto"/>
              </a:rPr>
              <a:t>non-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predictive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identifiers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like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Customer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ID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and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Surname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that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don't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contribute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to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pattern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recognition.</a:t>
            </a:r>
            <a:endParaRPr sz="13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105"/>
              </a:spcBef>
            </a:pP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50" spc="-25" dirty="0">
                <a:solidFill>
                  <a:srgbClr val="E5E0DF"/>
                </a:solidFill>
                <a:latin typeface="Courier New"/>
                <a:cs typeface="Courier New"/>
              </a:rPr>
              <a:t>02</a:t>
            </a:r>
            <a:endParaRPr sz="13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350">
              <a:latin typeface="Courier New"/>
              <a:cs typeface="Courier New"/>
            </a:endParaRPr>
          </a:p>
          <a:p>
            <a:pPr marL="24130">
              <a:lnSpc>
                <a:spcPct val="100000"/>
              </a:lnSpc>
            </a:pPr>
            <a:r>
              <a:rPr sz="1650" dirty="0">
                <a:solidFill>
                  <a:srgbClr val="E5E0DF"/>
                </a:solidFill>
                <a:latin typeface="Courier New"/>
                <a:cs typeface="Courier New"/>
              </a:rPr>
              <a:t>Encode</a:t>
            </a:r>
            <a:r>
              <a:rPr sz="1650" spc="-240" dirty="0">
                <a:solidFill>
                  <a:srgbClr val="E5E0DF"/>
                </a:solidFill>
                <a:latin typeface="Courier New"/>
                <a:cs typeface="Courier New"/>
              </a:rPr>
              <a:t> </a:t>
            </a:r>
            <a:r>
              <a:rPr sz="1650" spc="-10" dirty="0">
                <a:solidFill>
                  <a:srgbClr val="E5E0DF"/>
                </a:solidFill>
                <a:latin typeface="Courier New"/>
                <a:cs typeface="Courier New"/>
              </a:rPr>
              <a:t>Categories</a:t>
            </a:r>
            <a:endParaRPr sz="1650">
              <a:latin typeface="Courier New"/>
              <a:cs typeface="Courier New"/>
            </a:endParaRPr>
          </a:p>
          <a:p>
            <a:pPr marL="24130" marR="102235">
              <a:lnSpc>
                <a:spcPct val="129600"/>
              </a:lnSpc>
              <a:spcBef>
                <a:spcPts val="540"/>
              </a:spcBef>
            </a:pP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Convert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categorical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variables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such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as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Gender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and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Geography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into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numeric codes</a:t>
            </a:r>
            <a:r>
              <a:rPr sz="1350" spc="-5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that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algorithms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can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process.</a:t>
            </a:r>
            <a:endParaRPr sz="13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350" spc="-25" dirty="0">
                <a:solidFill>
                  <a:srgbClr val="E5E0DF"/>
                </a:solidFill>
                <a:latin typeface="Courier New"/>
                <a:cs typeface="Courier New"/>
              </a:rPr>
              <a:t>03</a:t>
            </a:r>
            <a:endParaRPr sz="13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350">
              <a:latin typeface="Courier New"/>
              <a:cs typeface="Courier New"/>
            </a:endParaRPr>
          </a:p>
          <a:p>
            <a:pPr marL="24130">
              <a:lnSpc>
                <a:spcPct val="100000"/>
              </a:lnSpc>
            </a:pPr>
            <a:r>
              <a:rPr sz="1650" dirty="0">
                <a:solidFill>
                  <a:srgbClr val="E5E0DF"/>
                </a:solidFill>
                <a:latin typeface="Courier New"/>
                <a:cs typeface="Courier New"/>
              </a:rPr>
              <a:t>Handle</a:t>
            </a:r>
            <a:r>
              <a:rPr sz="1650" spc="-220" dirty="0">
                <a:solidFill>
                  <a:srgbClr val="E5E0DF"/>
                </a:solidFill>
                <a:latin typeface="Courier New"/>
                <a:cs typeface="Courier New"/>
              </a:rPr>
              <a:t> </a:t>
            </a:r>
            <a:r>
              <a:rPr sz="1650" spc="-10" dirty="0">
                <a:solidFill>
                  <a:srgbClr val="E5E0DF"/>
                </a:solidFill>
                <a:latin typeface="Courier New"/>
                <a:cs typeface="Courier New"/>
              </a:rPr>
              <a:t>Missing</a:t>
            </a:r>
            <a:r>
              <a:rPr sz="1650" spc="-220" dirty="0">
                <a:solidFill>
                  <a:srgbClr val="E5E0DF"/>
                </a:solidFill>
                <a:latin typeface="Courier New"/>
                <a:cs typeface="Courier New"/>
              </a:rPr>
              <a:t> </a:t>
            </a:r>
            <a:r>
              <a:rPr sz="1650" spc="-20" dirty="0">
                <a:solidFill>
                  <a:srgbClr val="E5E0DF"/>
                </a:solidFill>
                <a:latin typeface="Courier New"/>
                <a:cs typeface="Courier New"/>
              </a:rPr>
              <a:t>Data</a:t>
            </a:r>
            <a:endParaRPr sz="1650">
              <a:latin typeface="Courier New"/>
              <a:cs typeface="Courier New"/>
            </a:endParaRPr>
          </a:p>
          <a:p>
            <a:pPr marL="24130" marR="102870">
              <a:lnSpc>
                <a:spcPct val="134300"/>
              </a:lnSpc>
              <a:spcBef>
                <a:spcPts val="465"/>
              </a:spcBef>
            </a:pP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Address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missing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values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and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scale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numeric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features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to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ensure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consistency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across</a:t>
            </a:r>
            <a:r>
              <a:rPr sz="1350" spc="-5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all</a:t>
            </a:r>
            <a:r>
              <a:rPr sz="1350" spc="-5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variables.</a:t>
            </a:r>
            <a:endParaRPr sz="13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350" spc="-25" dirty="0">
                <a:solidFill>
                  <a:srgbClr val="E5E0DF"/>
                </a:solidFill>
                <a:latin typeface="Courier New"/>
                <a:cs typeface="Courier New"/>
              </a:rPr>
              <a:t>04</a:t>
            </a:r>
            <a:endParaRPr sz="13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350">
              <a:latin typeface="Courier New"/>
              <a:cs typeface="Courier New"/>
            </a:endParaRPr>
          </a:p>
          <a:p>
            <a:pPr marL="24130">
              <a:lnSpc>
                <a:spcPct val="100000"/>
              </a:lnSpc>
            </a:pPr>
            <a:r>
              <a:rPr sz="1650" spc="-20" dirty="0">
                <a:solidFill>
                  <a:srgbClr val="E5E0DF"/>
                </a:solidFill>
                <a:latin typeface="Courier New"/>
                <a:cs typeface="Courier New"/>
              </a:rPr>
              <a:t>Visualize</a:t>
            </a:r>
            <a:r>
              <a:rPr sz="1650" spc="-114" dirty="0">
                <a:solidFill>
                  <a:srgbClr val="E5E0DF"/>
                </a:solidFill>
                <a:latin typeface="Courier New"/>
                <a:cs typeface="Courier New"/>
              </a:rPr>
              <a:t> </a:t>
            </a:r>
            <a:r>
              <a:rPr sz="1650" dirty="0">
                <a:solidFill>
                  <a:srgbClr val="E5E0DF"/>
                </a:solidFill>
                <a:latin typeface="Courier New"/>
                <a:cs typeface="Courier New"/>
              </a:rPr>
              <a:t>&amp;</a:t>
            </a:r>
            <a:r>
              <a:rPr sz="1650" spc="-110" dirty="0">
                <a:solidFill>
                  <a:srgbClr val="E5E0DF"/>
                </a:solidFill>
                <a:latin typeface="Courier New"/>
                <a:cs typeface="Courier New"/>
              </a:rPr>
              <a:t> </a:t>
            </a:r>
            <a:r>
              <a:rPr sz="1650" spc="-10" dirty="0">
                <a:solidFill>
                  <a:srgbClr val="E5E0DF"/>
                </a:solidFill>
                <a:latin typeface="Courier New"/>
                <a:cs typeface="Courier New"/>
              </a:rPr>
              <a:t>Balance</a:t>
            </a:r>
            <a:endParaRPr sz="1650">
              <a:latin typeface="Courier New"/>
              <a:cs typeface="Courier New"/>
            </a:endParaRPr>
          </a:p>
          <a:p>
            <a:pPr marL="24130" marR="5080">
              <a:lnSpc>
                <a:spcPct val="134300"/>
              </a:lnSpc>
              <a:spcBef>
                <a:spcPts val="465"/>
              </a:spcBef>
            </a:pP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Examine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 distributions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and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detect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class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imbalance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in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 churn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labels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to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prevent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biased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model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outcomes.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10" name="object 10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80596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8877300"/>
          </a:xfrm>
          <a:custGeom>
            <a:avLst/>
            <a:gdLst/>
            <a:ahLst/>
            <a:cxnLst/>
            <a:rect l="l" t="t" r="r" b="b"/>
            <a:pathLst>
              <a:path w="11430000" h="8877300">
                <a:moveTo>
                  <a:pt x="11430000" y="0"/>
                </a:moveTo>
                <a:lnTo>
                  <a:pt x="0" y="0"/>
                </a:lnTo>
                <a:lnTo>
                  <a:pt x="0" y="8877300"/>
                </a:lnTo>
                <a:lnTo>
                  <a:pt x="11430000" y="88773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463550"/>
            <a:ext cx="859091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70" dirty="0"/>
              <a:t>Building</a:t>
            </a:r>
            <a:r>
              <a:rPr spc="-390" dirty="0"/>
              <a:t> </a:t>
            </a:r>
            <a:r>
              <a:rPr dirty="0"/>
              <a:t>the</a:t>
            </a:r>
            <a:r>
              <a:rPr spc="-390" dirty="0"/>
              <a:t> </a:t>
            </a:r>
            <a:r>
              <a:rPr spc="-30" dirty="0"/>
              <a:t>Churn</a:t>
            </a:r>
            <a:r>
              <a:rPr spc="-390" dirty="0"/>
              <a:t> </a:t>
            </a:r>
            <a:r>
              <a:rPr spc="-80" dirty="0"/>
              <a:t>Prediction</a:t>
            </a:r>
            <a:r>
              <a:rPr spc="-390" dirty="0"/>
              <a:t> </a:t>
            </a:r>
            <a:r>
              <a:rPr spc="-10" dirty="0"/>
              <a:t>Model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7371" y="1425575"/>
            <a:ext cx="4293235" cy="26981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Model</a:t>
            </a:r>
            <a:r>
              <a:rPr sz="2000" spc="-26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Architecture</a:t>
            </a:r>
            <a:endParaRPr sz="2000">
              <a:latin typeface="Courier New"/>
              <a:cs typeface="Courier New"/>
            </a:endParaRPr>
          </a:p>
          <a:p>
            <a:pPr marL="12700" marR="266065">
              <a:lnSpc>
                <a:spcPct val="129600"/>
              </a:lnSpc>
              <a:spcBef>
                <a:spcPts val="1145"/>
              </a:spcBef>
            </a:pP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Use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decision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tree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or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logistic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regression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nodes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in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SPSS Modeler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to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create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 your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predictive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engine.</a:t>
            </a:r>
            <a:endParaRPr sz="1350">
              <a:latin typeface="Roboto"/>
              <a:cs typeface="Roboto"/>
            </a:endParaRPr>
          </a:p>
          <a:p>
            <a:pPr marL="12700" marR="5080">
              <a:lnSpc>
                <a:spcPct val="134300"/>
              </a:lnSpc>
              <a:spcBef>
                <a:spcPts val="1200"/>
              </a:spcBef>
            </a:pPr>
            <a:r>
              <a:rPr sz="1350" b="1" spc="-20" dirty="0">
                <a:solidFill>
                  <a:srgbClr val="DCFF4F"/>
                </a:solidFill>
                <a:latin typeface="Roboto"/>
                <a:cs typeface="Roboto"/>
              </a:rPr>
              <a:t>Decision</a:t>
            </a:r>
            <a:r>
              <a:rPr sz="1350" b="1" spc="-25" dirty="0">
                <a:solidFill>
                  <a:srgbClr val="DCFF4F"/>
                </a:solidFill>
                <a:latin typeface="Roboto"/>
                <a:cs typeface="Roboto"/>
              </a:rPr>
              <a:t> </a:t>
            </a:r>
            <a:r>
              <a:rPr sz="1350" b="1" dirty="0">
                <a:solidFill>
                  <a:srgbClr val="DCFF4F"/>
                </a:solidFill>
                <a:latin typeface="Roboto"/>
                <a:cs typeface="Roboto"/>
              </a:rPr>
              <a:t>trees</a:t>
            </a:r>
            <a:r>
              <a:rPr sz="1350" b="1" spc="-20" dirty="0">
                <a:solidFill>
                  <a:srgbClr val="DCFF4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classify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customers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 by 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intelligently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splitting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on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key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features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like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income,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credit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score,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and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account activity.</a:t>
            </a:r>
            <a:endParaRPr sz="1350">
              <a:latin typeface="Roboto"/>
              <a:cs typeface="Roboto"/>
            </a:endParaRPr>
          </a:p>
          <a:p>
            <a:pPr marL="12700" marR="48895">
              <a:lnSpc>
                <a:spcPct val="134300"/>
              </a:lnSpc>
              <a:spcBef>
                <a:spcPts val="1200"/>
              </a:spcBef>
            </a:pP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The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model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learns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complex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patterns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that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distinguish 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churners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from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loyal customers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 through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iterative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analysis.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0675" y="1457324"/>
            <a:ext cx="5438774" cy="54387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44550" y="7483476"/>
            <a:ext cx="7858759" cy="697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10" dirty="0">
                <a:solidFill>
                  <a:srgbClr val="E5E0DF"/>
                </a:solidFill>
                <a:latin typeface="Roboto"/>
                <a:cs typeface="Roboto"/>
              </a:rPr>
              <a:t>Example</a:t>
            </a:r>
            <a:r>
              <a:rPr sz="1350" b="1" spc="-5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b="1" dirty="0">
                <a:solidFill>
                  <a:srgbClr val="E5E0DF"/>
                </a:solidFill>
                <a:latin typeface="Roboto"/>
                <a:cs typeface="Roboto"/>
              </a:rPr>
              <a:t>Rule</a:t>
            </a:r>
            <a:r>
              <a:rPr sz="1350" b="1" spc="-5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b="1" spc="-10" dirty="0">
                <a:solidFill>
                  <a:srgbClr val="E5E0DF"/>
                </a:solidFill>
                <a:latin typeface="Roboto"/>
                <a:cs typeface="Roboto"/>
              </a:rPr>
              <a:t>Discovery:</a:t>
            </a:r>
            <a:endParaRPr sz="13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3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IF</a:t>
            </a:r>
            <a:r>
              <a:rPr sz="1350" spc="-5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Income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=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Medium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AND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Number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of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Credit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Cards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&lt;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5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AND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Activity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Status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=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Inactive</a:t>
            </a:r>
            <a:r>
              <a:rPr sz="1350" spc="-5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THEN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Likely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to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Churn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0075" y="7277101"/>
            <a:ext cx="19050" cy="1133475"/>
          </a:xfrm>
          <a:custGeom>
            <a:avLst/>
            <a:gdLst/>
            <a:ahLst/>
            <a:cxnLst/>
            <a:rect l="l" t="t" r="r" b="b"/>
            <a:pathLst>
              <a:path w="19050" h="1133475">
                <a:moveTo>
                  <a:pt x="19050" y="0"/>
                </a:moveTo>
                <a:lnTo>
                  <a:pt x="0" y="0"/>
                </a:lnTo>
                <a:lnTo>
                  <a:pt x="0" y="1133475"/>
                </a:lnTo>
                <a:lnTo>
                  <a:pt x="19050" y="1133475"/>
                </a:lnTo>
                <a:lnTo>
                  <a:pt x="19050" y="0"/>
                </a:lnTo>
                <a:close/>
              </a:path>
            </a:pathLst>
          </a:custGeom>
          <a:solidFill>
            <a:srgbClr val="DCFF4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83644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5" name="object 5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7375" y="492125"/>
            <a:ext cx="3948429" cy="107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spc="-80" dirty="0"/>
              <a:t>Evaluating</a:t>
            </a:r>
            <a:r>
              <a:rPr spc="-335" dirty="0"/>
              <a:t> </a:t>
            </a:r>
            <a:r>
              <a:rPr spc="-50" dirty="0"/>
              <a:t>Model </a:t>
            </a:r>
            <a:r>
              <a:rPr spc="-10" dirty="0"/>
              <a:t>Performance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92298" y="1831339"/>
            <a:ext cx="1656080" cy="1749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04" algn="ctr">
              <a:lnSpc>
                <a:spcPct val="100000"/>
              </a:lnSpc>
              <a:spcBef>
                <a:spcPts val="105"/>
              </a:spcBef>
            </a:pPr>
            <a:r>
              <a:rPr sz="4450" spc="-25" dirty="0">
                <a:solidFill>
                  <a:srgbClr val="E5E0DF"/>
                </a:solidFill>
                <a:latin typeface="Courier New"/>
                <a:cs typeface="Courier New"/>
              </a:rPr>
              <a:t>87%</a:t>
            </a:r>
            <a:endParaRPr sz="4450">
              <a:latin typeface="Courier New"/>
              <a:cs typeface="Courier New"/>
            </a:endParaRPr>
          </a:p>
          <a:p>
            <a:pPr marL="4445" algn="ctr">
              <a:lnSpc>
                <a:spcPct val="100000"/>
              </a:lnSpc>
              <a:spcBef>
                <a:spcPts val="1435"/>
              </a:spcBef>
            </a:pPr>
            <a:r>
              <a:rPr sz="1650" spc="-10" dirty="0">
                <a:solidFill>
                  <a:srgbClr val="E5E0DF"/>
                </a:solidFill>
                <a:latin typeface="Courier New"/>
                <a:cs typeface="Courier New"/>
              </a:rPr>
              <a:t>Accuracy</a:t>
            </a:r>
            <a:endParaRPr sz="1650">
              <a:latin typeface="Courier New"/>
              <a:cs typeface="Courier New"/>
            </a:endParaRPr>
          </a:p>
          <a:p>
            <a:pPr marL="12065" marR="5080" algn="ctr">
              <a:lnSpc>
                <a:spcPct val="134300"/>
              </a:lnSpc>
              <a:spcBef>
                <a:spcPts val="464"/>
              </a:spcBef>
            </a:pP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Overall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correctness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of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predictions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84385" y="1831339"/>
            <a:ext cx="1376680" cy="1749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04" algn="ctr">
              <a:lnSpc>
                <a:spcPct val="100000"/>
              </a:lnSpc>
              <a:spcBef>
                <a:spcPts val="105"/>
              </a:spcBef>
            </a:pPr>
            <a:r>
              <a:rPr sz="4450" spc="-25" dirty="0">
                <a:solidFill>
                  <a:srgbClr val="E5E0DF"/>
                </a:solidFill>
                <a:latin typeface="Courier New"/>
                <a:cs typeface="Courier New"/>
              </a:rPr>
              <a:t>82%</a:t>
            </a:r>
            <a:endParaRPr sz="4450">
              <a:latin typeface="Courier New"/>
              <a:cs typeface="Courier New"/>
            </a:endParaRPr>
          </a:p>
          <a:p>
            <a:pPr marL="12065" marR="5080" indent="4445" algn="ctr">
              <a:lnSpc>
                <a:spcPct val="142900"/>
              </a:lnSpc>
              <a:spcBef>
                <a:spcPts val="585"/>
              </a:spcBef>
            </a:pPr>
            <a:r>
              <a:rPr sz="1650" spc="-10" dirty="0">
                <a:solidFill>
                  <a:srgbClr val="E5E0DF"/>
                </a:solidFill>
                <a:latin typeface="Courier New"/>
                <a:cs typeface="Courier New"/>
              </a:rPr>
              <a:t>Precision 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Accuracy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of</a:t>
            </a:r>
            <a:r>
              <a:rPr sz="1350" spc="-1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churn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predictions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41767" y="1831339"/>
            <a:ext cx="1767205" cy="1749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04" algn="ctr">
              <a:lnSpc>
                <a:spcPct val="100000"/>
              </a:lnSpc>
              <a:spcBef>
                <a:spcPts val="105"/>
              </a:spcBef>
            </a:pPr>
            <a:r>
              <a:rPr sz="4450" spc="-25" dirty="0">
                <a:solidFill>
                  <a:srgbClr val="E5E0DF"/>
                </a:solidFill>
                <a:latin typeface="Courier New"/>
                <a:cs typeface="Courier New"/>
              </a:rPr>
              <a:t>76%</a:t>
            </a:r>
            <a:endParaRPr sz="4450">
              <a:latin typeface="Courier New"/>
              <a:cs typeface="Courier New"/>
            </a:endParaRPr>
          </a:p>
          <a:p>
            <a:pPr marL="4445" algn="ctr">
              <a:lnSpc>
                <a:spcPct val="100000"/>
              </a:lnSpc>
              <a:spcBef>
                <a:spcPts val="1435"/>
              </a:spcBef>
            </a:pPr>
            <a:r>
              <a:rPr sz="1650" spc="-10" dirty="0">
                <a:solidFill>
                  <a:srgbClr val="E5E0DF"/>
                </a:solidFill>
                <a:latin typeface="Courier New"/>
                <a:cs typeface="Courier New"/>
              </a:rPr>
              <a:t>Recall</a:t>
            </a:r>
            <a:endParaRPr sz="1650">
              <a:latin typeface="Courier New"/>
              <a:cs typeface="Courier New"/>
            </a:endParaRPr>
          </a:p>
          <a:p>
            <a:pPr marL="12700" marR="5080" algn="ctr">
              <a:lnSpc>
                <a:spcPct val="134300"/>
              </a:lnSpc>
              <a:spcBef>
                <a:spcPts val="464"/>
              </a:spcBef>
            </a:pP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Percentage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of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 churners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identified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7375" y="3973512"/>
            <a:ext cx="2785110" cy="176974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803275">
              <a:lnSpc>
                <a:spcPct val="106100"/>
              </a:lnSpc>
              <a:spcBef>
                <a:spcPts val="15"/>
              </a:spcBef>
            </a:pPr>
            <a:r>
              <a:rPr sz="1650" spc="-20" dirty="0">
                <a:solidFill>
                  <a:srgbClr val="FFFFFF"/>
                </a:solidFill>
                <a:latin typeface="Courier New"/>
                <a:cs typeface="Courier New"/>
              </a:rPr>
              <a:t>Addressing</a:t>
            </a:r>
            <a:r>
              <a:rPr sz="1650" spc="-18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Courier New"/>
                <a:cs typeface="Courier New"/>
              </a:rPr>
              <a:t>Class Imbalance</a:t>
            </a:r>
            <a:endParaRPr sz="1650">
              <a:latin typeface="Courier New"/>
              <a:cs typeface="Courier New"/>
            </a:endParaRPr>
          </a:p>
          <a:p>
            <a:pPr marL="12700" marR="5080">
              <a:lnSpc>
                <a:spcPct val="132700"/>
              </a:lnSpc>
              <a:spcBef>
                <a:spcPts val="1015"/>
              </a:spcBef>
            </a:pP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Prevent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biased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predictions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by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using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techniques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like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oversampling, 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undersampling,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or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SMOTE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to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balance 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training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data.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77805" y="3973512"/>
            <a:ext cx="2773680" cy="15030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20" dirty="0">
                <a:solidFill>
                  <a:srgbClr val="FFFFFF"/>
                </a:solidFill>
                <a:latin typeface="Courier New"/>
                <a:cs typeface="Courier New"/>
              </a:rPr>
              <a:t>Iterative</a:t>
            </a:r>
            <a:r>
              <a:rPr sz="1650" spc="-16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650" spc="-10" dirty="0">
                <a:solidFill>
                  <a:srgbClr val="FFFFFF"/>
                </a:solidFill>
                <a:latin typeface="Courier New"/>
                <a:cs typeface="Courier New"/>
              </a:rPr>
              <a:t>Refinement</a:t>
            </a:r>
            <a:endParaRPr sz="1650">
              <a:latin typeface="Courier New"/>
              <a:cs typeface="Courier New"/>
            </a:endParaRPr>
          </a:p>
          <a:p>
            <a:pPr marL="12700" marR="5080">
              <a:lnSpc>
                <a:spcPct val="132700"/>
              </a:lnSpc>
              <a:spcBef>
                <a:spcPts val="1015"/>
              </a:spcBef>
            </a:pP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Use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SPSS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Modeler's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evaluation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nodes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to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visualize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results,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then</a:t>
            </a:r>
            <a:r>
              <a:rPr sz="1350" spc="-4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refine 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through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feature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selection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and parameter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tuning.</a:t>
            </a:r>
            <a:endParaRPr sz="13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591300"/>
          </a:xfrm>
          <a:custGeom>
            <a:avLst/>
            <a:gdLst/>
            <a:ahLst/>
            <a:cxnLst/>
            <a:rect l="l" t="t" r="r" b="b"/>
            <a:pathLst>
              <a:path w="11430000" h="6591300">
                <a:moveTo>
                  <a:pt x="11430000" y="0"/>
                </a:moveTo>
                <a:lnTo>
                  <a:pt x="0" y="0"/>
                </a:lnTo>
                <a:lnTo>
                  <a:pt x="0" y="6591300"/>
                </a:lnTo>
                <a:lnTo>
                  <a:pt x="11430000" y="65913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59104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73625" y="463550"/>
            <a:ext cx="541464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5" dirty="0"/>
              <a:t>Scoring</a:t>
            </a:r>
            <a:r>
              <a:rPr spc="-420" dirty="0"/>
              <a:t> </a:t>
            </a:r>
            <a:r>
              <a:rPr dirty="0"/>
              <a:t>and</a:t>
            </a:r>
            <a:r>
              <a:rPr spc="-415" dirty="0"/>
              <a:t> </a:t>
            </a:r>
            <a:r>
              <a:rPr spc="-65" dirty="0"/>
              <a:t>Deployment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86325" y="1266824"/>
            <a:ext cx="857250" cy="41148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873625" y="1430337"/>
            <a:ext cx="5923280" cy="46558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0414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E5E0DF"/>
                </a:solidFill>
                <a:latin typeface="Courier New"/>
                <a:cs typeface="Courier New"/>
              </a:rPr>
              <a:t>New</a:t>
            </a:r>
            <a:r>
              <a:rPr sz="1650" spc="-180" dirty="0">
                <a:solidFill>
                  <a:srgbClr val="E5E0DF"/>
                </a:solidFill>
                <a:latin typeface="Courier New"/>
                <a:cs typeface="Courier New"/>
              </a:rPr>
              <a:t> </a:t>
            </a:r>
            <a:r>
              <a:rPr sz="1650" spc="-10" dirty="0">
                <a:solidFill>
                  <a:srgbClr val="E5E0DF"/>
                </a:solidFill>
                <a:latin typeface="Courier New"/>
                <a:cs typeface="Courier New"/>
              </a:rPr>
              <a:t>Customer</a:t>
            </a:r>
            <a:r>
              <a:rPr sz="1650" spc="-180" dirty="0">
                <a:solidFill>
                  <a:srgbClr val="E5E0DF"/>
                </a:solidFill>
                <a:latin typeface="Courier New"/>
                <a:cs typeface="Courier New"/>
              </a:rPr>
              <a:t> </a:t>
            </a:r>
            <a:r>
              <a:rPr sz="1650" spc="-20" dirty="0">
                <a:solidFill>
                  <a:srgbClr val="E5E0DF"/>
                </a:solidFill>
                <a:latin typeface="Courier New"/>
                <a:cs typeface="Courier New"/>
              </a:rPr>
              <a:t>Data</a:t>
            </a:r>
            <a:endParaRPr sz="1650">
              <a:latin typeface="Courier New"/>
              <a:cs typeface="Courier New"/>
            </a:endParaRPr>
          </a:p>
          <a:p>
            <a:pPr marL="1041400">
              <a:lnSpc>
                <a:spcPct val="100000"/>
              </a:lnSpc>
              <a:spcBef>
                <a:spcPts val="1019"/>
              </a:spcBef>
            </a:pP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Fresh</a:t>
            </a:r>
            <a:r>
              <a:rPr sz="1350" spc="-5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data</a:t>
            </a:r>
            <a:r>
              <a:rPr sz="1350" spc="-5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flows</a:t>
            </a:r>
            <a:r>
              <a:rPr sz="1350" spc="-5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into</a:t>
            </a:r>
            <a:r>
              <a:rPr sz="1350" spc="-5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the</a:t>
            </a:r>
            <a:r>
              <a:rPr sz="1350" spc="-5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trained</a:t>
            </a:r>
            <a:r>
              <a:rPr sz="1350" spc="-5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model</a:t>
            </a:r>
            <a:r>
              <a:rPr sz="1350" spc="-5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for</a:t>
            </a:r>
            <a:r>
              <a:rPr sz="1350" spc="-5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80" dirty="0">
                <a:solidFill>
                  <a:srgbClr val="E5E0DF"/>
                </a:solidFill>
                <a:latin typeface="Roboto"/>
                <a:cs typeface="Roboto"/>
              </a:rPr>
              <a:t>real-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time</a:t>
            </a:r>
            <a:r>
              <a:rPr sz="1350" spc="-5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assessment</a:t>
            </a:r>
            <a:endParaRPr sz="13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350">
              <a:latin typeface="Roboto"/>
              <a:cs typeface="Roboto"/>
            </a:endParaRPr>
          </a:p>
          <a:p>
            <a:pPr marL="1041400">
              <a:lnSpc>
                <a:spcPct val="100000"/>
              </a:lnSpc>
            </a:pPr>
            <a:r>
              <a:rPr sz="1650" dirty="0">
                <a:solidFill>
                  <a:srgbClr val="E5E0DF"/>
                </a:solidFill>
                <a:latin typeface="Courier New"/>
                <a:cs typeface="Courier New"/>
              </a:rPr>
              <a:t>Churn</a:t>
            </a:r>
            <a:r>
              <a:rPr sz="1650" spc="-204" dirty="0">
                <a:solidFill>
                  <a:srgbClr val="E5E0DF"/>
                </a:solidFill>
                <a:latin typeface="Courier New"/>
                <a:cs typeface="Courier New"/>
              </a:rPr>
              <a:t> </a:t>
            </a:r>
            <a:r>
              <a:rPr sz="1650" spc="-10" dirty="0">
                <a:solidFill>
                  <a:srgbClr val="E5E0DF"/>
                </a:solidFill>
                <a:latin typeface="Courier New"/>
                <a:cs typeface="Courier New"/>
              </a:rPr>
              <a:t>Probability</a:t>
            </a:r>
            <a:endParaRPr sz="1650">
              <a:latin typeface="Courier New"/>
              <a:cs typeface="Courier New"/>
            </a:endParaRPr>
          </a:p>
          <a:p>
            <a:pPr marL="1041400">
              <a:lnSpc>
                <a:spcPct val="100000"/>
              </a:lnSpc>
              <a:spcBef>
                <a:spcPts val="1019"/>
              </a:spcBef>
            </a:pP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Score</a:t>
            </a:r>
            <a:r>
              <a:rPr sz="1350" spc="-5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node</a:t>
            </a:r>
            <a:r>
              <a:rPr sz="1350" spc="-5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generates</a:t>
            </a:r>
            <a:r>
              <a:rPr sz="1350" spc="-5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risk</a:t>
            </a:r>
            <a:r>
              <a:rPr sz="1350" spc="-5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scores</a:t>
            </a:r>
            <a:r>
              <a:rPr sz="1350" spc="-5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from</a:t>
            </a:r>
            <a:r>
              <a:rPr sz="1350" spc="-5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50" dirty="0">
                <a:solidFill>
                  <a:srgbClr val="E5E0DF"/>
                </a:solidFill>
                <a:latin typeface="Roboto"/>
                <a:cs typeface="Roboto"/>
              </a:rPr>
              <a:t>0-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100%</a:t>
            </a:r>
            <a:r>
              <a:rPr sz="1350" spc="-5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for</a:t>
            </a:r>
            <a:r>
              <a:rPr sz="1350" spc="-5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each</a:t>
            </a:r>
            <a:r>
              <a:rPr sz="1350" spc="-5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customer</a:t>
            </a:r>
            <a:endParaRPr sz="13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350">
              <a:latin typeface="Roboto"/>
              <a:cs typeface="Roboto"/>
            </a:endParaRPr>
          </a:p>
          <a:p>
            <a:pPr marL="1041400">
              <a:lnSpc>
                <a:spcPct val="100000"/>
              </a:lnSpc>
            </a:pPr>
            <a:r>
              <a:rPr sz="1650" spc="-10" dirty="0">
                <a:solidFill>
                  <a:srgbClr val="E5E0DF"/>
                </a:solidFill>
                <a:latin typeface="Courier New"/>
                <a:cs typeface="Courier New"/>
              </a:rPr>
              <a:t>Targeted</a:t>
            </a:r>
            <a:r>
              <a:rPr sz="1650" spc="-229" dirty="0">
                <a:solidFill>
                  <a:srgbClr val="E5E0DF"/>
                </a:solidFill>
                <a:latin typeface="Courier New"/>
                <a:cs typeface="Courier New"/>
              </a:rPr>
              <a:t> </a:t>
            </a:r>
            <a:r>
              <a:rPr sz="1650" spc="-10" dirty="0">
                <a:solidFill>
                  <a:srgbClr val="E5E0DF"/>
                </a:solidFill>
                <a:latin typeface="Courier New"/>
                <a:cs typeface="Courier New"/>
              </a:rPr>
              <a:t>Campaigns</a:t>
            </a:r>
            <a:endParaRPr sz="1650">
              <a:latin typeface="Courier New"/>
              <a:cs typeface="Courier New"/>
            </a:endParaRPr>
          </a:p>
          <a:p>
            <a:pPr marL="1041400">
              <a:lnSpc>
                <a:spcPct val="100000"/>
              </a:lnSpc>
              <a:spcBef>
                <a:spcPts val="1019"/>
              </a:spcBef>
            </a:pP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Enables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personalized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retention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offers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and</a:t>
            </a:r>
            <a:r>
              <a:rPr sz="1350" spc="-3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interventions</a:t>
            </a:r>
            <a:endParaRPr sz="13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350">
              <a:latin typeface="Roboto"/>
              <a:cs typeface="Roboto"/>
            </a:endParaRPr>
          </a:p>
          <a:p>
            <a:pPr marL="1041400">
              <a:lnSpc>
                <a:spcPct val="100000"/>
              </a:lnSpc>
            </a:pPr>
            <a:r>
              <a:rPr sz="1650" spc="-20" dirty="0">
                <a:solidFill>
                  <a:srgbClr val="E5E0DF"/>
                </a:solidFill>
                <a:latin typeface="Courier New"/>
                <a:cs typeface="Courier New"/>
              </a:rPr>
              <a:t>Enterprise</a:t>
            </a:r>
            <a:r>
              <a:rPr sz="1650" spc="-180" dirty="0">
                <a:solidFill>
                  <a:srgbClr val="E5E0DF"/>
                </a:solidFill>
                <a:latin typeface="Courier New"/>
                <a:cs typeface="Courier New"/>
              </a:rPr>
              <a:t> </a:t>
            </a:r>
            <a:r>
              <a:rPr sz="1650" spc="-10" dirty="0">
                <a:solidFill>
                  <a:srgbClr val="E5E0DF"/>
                </a:solidFill>
                <a:latin typeface="Courier New"/>
                <a:cs typeface="Courier New"/>
              </a:rPr>
              <a:t>Deployment</a:t>
            </a:r>
            <a:endParaRPr sz="1650">
              <a:latin typeface="Courier New"/>
              <a:cs typeface="Courier New"/>
            </a:endParaRPr>
          </a:p>
          <a:p>
            <a:pPr marL="1041400">
              <a:lnSpc>
                <a:spcPct val="100000"/>
              </a:lnSpc>
              <a:spcBef>
                <a:spcPts val="1019"/>
              </a:spcBef>
            </a:pP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Scale</a:t>
            </a:r>
            <a:r>
              <a:rPr sz="1350" spc="-5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via</a:t>
            </a:r>
            <a:r>
              <a:rPr sz="1350" spc="-5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IBM</a:t>
            </a:r>
            <a:r>
              <a:rPr sz="1350" spc="-5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Cloud</a:t>
            </a:r>
            <a:r>
              <a:rPr sz="1350" spc="-5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Pak</a:t>
            </a:r>
            <a:r>
              <a:rPr sz="1350" spc="-5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for</a:t>
            </a:r>
            <a:r>
              <a:rPr sz="1350" spc="-5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Data</a:t>
            </a:r>
            <a:endParaRPr sz="13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530"/>
              </a:spcBef>
            </a:pPr>
            <a:endParaRPr sz="1350">
              <a:latin typeface="Roboto"/>
              <a:cs typeface="Roboto"/>
            </a:endParaRPr>
          </a:p>
          <a:p>
            <a:pPr marL="12700" marR="184150">
              <a:lnSpc>
                <a:spcPct val="134300"/>
              </a:lnSpc>
            </a:pP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Apply</a:t>
            </a:r>
            <a:r>
              <a:rPr sz="1350" spc="-5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the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model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to</a:t>
            </a:r>
            <a:r>
              <a:rPr sz="1350" spc="-5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new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customer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data</a:t>
            </a:r>
            <a:r>
              <a:rPr sz="1350" spc="-5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to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predict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30" dirty="0">
                <a:solidFill>
                  <a:srgbClr val="E5E0DF"/>
                </a:solidFill>
                <a:latin typeface="Roboto"/>
                <a:cs typeface="Roboto"/>
              </a:rPr>
              <a:t>churn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risk</a:t>
            </a:r>
            <a:r>
              <a:rPr sz="1350" spc="-5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E5E0DF"/>
                </a:solidFill>
                <a:latin typeface="Roboto"/>
                <a:cs typeface="Roboto"/>
              </a:rPr>
              <a:t>in</a:t>
            </a:r>
            <a:r>
              <a:rPr sz="1350" spc="-4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80" dirty="0">
                <a:solidFill>
                  <a:srgbClr val="E5E0DF"/>
                </a:solidFill>
                <a:latin typeface="Roboto"/>
                <a:cs typeface="Roboto"/>
              </a:rPr>
              <a:t>real-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time.</a:t>
            </a:r>
            <a:r>
              <a:rPr sz="1350" spc="-65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The scoring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process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 transforms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predictions 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into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 actionable</a:t>
            </a:r>
            <a:r>
              <a:rPr sz="1350" spc="-20" dirty="0">
                <a:solidFill>
                  <a:srgbClr val="E5E0DF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E5E0DF"/>
                </a:solidFill>
                <a:latin typeface="Roboto"/>
                <a:cs typeface="Roboto"/>
              </a:rPr>
              <a:t>business </a:t>
            </a:r>
            <a:r>
              <a:rPr sz="1350" spc="-10" dirty="0">
                <a:solidFill>
                  <a:srgbClr val="E5E0DF"/>
                </a:solidFill>
                <a:latin typeface="Roboto"/>
                <a:cs typeface="Roboto"/>
              </a:rPr>
              <a:t>intelligence.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7" name="object 7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60784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562850"/>
          </a:xfrm>
          <a:custGeom>
            <a:avLst/>
            <a:gdLst/>
            <a:ahLst/>
            <a:cxnLst/>
            <a:rect l="l" t="t" r="r" b="b"/>
            <a:pathLst>
              <a:path w="11430000" h="7562850">
                <a:moveTo>
                  <a:pt x="11430000" y="0"/>
                </a:moveTo>
                <a:lnTo>
                  <a:pt x="0" y="0"/>
                </a:lnTo>
                <a:lnTo>
                  <a:pt x="0" y="7562850"/>
                </a:lnTo>
                <a:lnTo>
                  <a:pt x="11430000" y="75628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143750" y="253"/>
            <a:ext cx="4286250" cy="7562850"/>
            <a:chOff x="7143750" y="253"/>
            <a:chExt cx="4286250" cy="75628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7562595"/>
            </a:xfrm>
            <a:prstGeom prst="rect">
              <a:avLst/>
            </a:prstGeom>
          </p:spPr>
        </p:pic>
        <p:pic>
          <p:nvPicPr>
            <p:cNvPr id="5" name="object 5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7053833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7375" y="463550"/>
            <a:ext cx="4436745" cy="107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spc="-105" dirty="0"/>
              <a:t>Real-</a:t>
            </a:r>
            <a:r>
              <a:rPr spc="-30" dirty="0"/>
              <a:t>World</a:t>
            </a:r>
            <a:r>
              <a:rPr spc="-459" dirty="0"/>
              <a:t> </a:t>
            </a:r>
            <a:r>
              <a:rPr spc="-65" dirty="0"/>
              <a:t>Impact: </a:t>
            </a:r>
            <a:r>
              <a:rPr spc="-70" dirty="0"/>
              <a:t>Business</a:t>
            </a:r>
            <a:r>
              <a:rPr spc="-375" dirty="0"/>
              <a:t> </a:t>
            </a:r>
            <a:r>
              <a:rPr spc="-10" dirty="0"/>
              <a:t>Benefits</a:t>
            </a:r>
          </a:p>
        </p:txBody>
      </p:sp>
      <p:sp>
        <p:nvSpPr>
          <p:cNvPr id="7" name="object 7"/>
          <p:cNvSpPr/>
          <p:nvPr/>
        </p:nvSpPr>
        <p:spPr>
          <a:xfrm>
            <a:off x="600075" y="1800224"/>
            <a:ext cx="5943600" cy="1266825"/>
          </a:xfrm>
          <a:custGeom>
            <a:avLst/>
            <a:gdLst/>
            <a:ahLst/>
            <a:cxnLst/>
            <a:rect l="l" t="t" r="r" b="b"/>
            <a:pathLst>
              <a:path w="5943600" h="1266825">
                <a:moveTo>
                  <a:pt x="5925007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1245400"/>
                </a:lnTo>
                <a:lnTo>
                  <a:pt x="0" y="1248232"/>
                </a:lnTo>
                <a:lnTo>
                  <a:pt x="18588" y="1266825"/>
                </a:lnTo>
                <a:lnTo>
                  <a:pt x="5925007" y="1266825"/>
                </a:lnTo>
                <a:lnTo>
                  <a:pt x="5943600" y="1248232"/>
                </a:lnTo>
                <a:lnTo>
                  <a:pt x="5943600" y="18592"/>
                </a:lnTo>
                <a:lnTo>
                  <a:pt x="5927750" y="546"/>
                </a:lnTo>
                <a:lnTo>
                  <a:pt x="5925007" y="0"/>
                </a:lnTo>
                <a:close/>
              </a:path>
            </a:pathLst>
          </a:custGeom>
          <a:solidFill>
            <a:srgbClr val="DCFF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58825" y="1963737"/>
            <a:ext cx="5007610" cy="8934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latin typeface="Courier New"/>
                <a:cs typeface="Courier New"/>
              </a:rPr>
              <a:t>Reduce</a:t>
            </a:r>
            <a:r>
              <a:rPr sz="1650" spc="-220" dirty="0">
                <a:latin typeface="Courier New"/>
                <a:cs typeface="Courier New"/>
              </a:rPr>
              <a:t> </a:t>
            </a:r>
            <a:r>
              <a:rPr sz="1650" dirty="0">
                <a:latin typeface="Courier New"/>
                <a:cs typeface="Courier New"/>
              </a:rPr>
              <a:t>Churn</a:t>
            </a:r>
            <a:r>
              <a:rPr sz="1650" spc="-220" dirty="0">
                <a:latin typeface="Courier New"/>
                <a:cs typeface="Courier New"/>
              </a:rPr>
              <a:t> </a:t>
            </a:r>
            <a:r>
              <a:rPr sz="1650" spc="-10" dirty="0">
                <a:latin typeface="Courier New"/>
                <a:cs typeface="Courier New"/>
              </a:rPr>
              <a:t>Rates</a:t>
            </a:r>
            <a:endParaRPr sz="1650">
              <a:latin typeface="Courier New"/>
              <a:cs typeface="Courier New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sz="1350" spc="-20" dirty="0">
                <a:latin typeface="Roboto"/>
                <a:cs typeface="Roboto"/>
              </a:rPr>
              <a:t>Early</a:t>
            </a:r>
            <a:r>
              <a:rPr sz="1350" spc="-25" dirty="0">
                <a:latin typeface="Roboto"/>
                <a:cs typeface="Roboto"/>
              </a:rPr>
              <a:t> identification</a:t>
            </a:r>
            <a:r>
              <a:rPr sz="1350" spc="-20" dirty="0">
                <a:latin typeface="Roboto"/>
                <a:cs typeface="Roboto"/>
              </a:rPr>
              <a:t> </a:t>
            </a:r>
            <a:r>
              <a:rPr sz="1350" dirty="0">
                <a:latin typeface="Roboto"/>
                <a:cs typeface="Roboto"/>
              </a:rPr>
              <a:t>of</a:t>
            </a:r>
            <a:r>
              <a:rPr sz="1350" spc="-20" dirty="0">
                <a:latin typeface="Roboto"/>
                <a:cs typeface="Roboto"/>
              </a:rPr>
              <a:t> </a:t>
            </a:r>
            <a:r>
              <a:rPr sz="1350" spc="-110" dirty="0">
                <a:latin typeface="Roboto"/>
                <a:cs typeface="Roboto"/>
              </a:rPr>
              <a:t>at-</a:t>
            </a:r>
            <a:r>
              <a:rPr sz="1350" spc="-20" dirty="0">
                <a:latin typeface="Roboto"/>
                <a:cs typeface="Roboto"/>
              </a:rPr>
              <a:t>risk </a:t>
            </a:r>
            <a:r>
              <a:rPr sz="1350" spc="-25" dirty="0">
                <a:latin typeface="Roboto"/>
                <a:cs typeface="Roboto"/>
              </a:rPr>
              <a:t>customers </a:t>
            </a:r>
            <a:r>
              <a:rPr sz="1350" spc="-20" dirty="0">
                <a:latin typeface="Roboto"/>
                <a:cs typeface="Roboto"/>
              </a:rPr>
              <a:t>enables </a:t>
            </a:r>
            <a:r>
              <a:rPr sz="1350" spc="-25" dirty="0">
                <a:latin typeface="Roboto"/>
                <a:cs typeface="Roboto"/>
              </a:rPr>
              <a:t>timely</a:t>
            </a:r>
            <a:r>
              <a:rPr sz="1350" spc="-20" dirty="0">
                <a:latin typeface="Roboto"/>
                <a:cs typeface="Roboto"/>
              </a:rPr>
              <a:t> </a:t>
            </a:r>
            <a:r>
              <a:rPr sz="1350" spc="-10" dirty="0">
                <a:latin typeface="Roboto"/>
                <a:cs typeface="Roboto"/>
              </a:rPr>
              <a:t>intervention, </a:t>
            </a:r>
            <a:r>
              <a:rPr sz="1350" spc="-30" dirty="0">
                <a:latin typeface="Roboto"/>
                <a:cs typeface="Roboto"/>
              </a:rPr>
              <a:t>reducing</a:t>
            </a:r>
            <a:r>
              <a:rPr sz="1350" spc="-50" dirty="0">
                <a:latin typeface="Roboto"/>
                <a:cs typeface="Roboto"/>
              </a:rPr>
              <a:t> </a:t>
            </a:r>
            <a:r>
              <a:rPr sz="1350" spc="-30" dirty="0">
                <a:latin typeface="Roboto"/>
                <a:cs typeface="Roboto"/>
              </a:rPr>
              <a:t>churn</a:t>
            </a:r>
            <a:r>
              <a:rPr sz="1350" spc="-50" dirty="0">
                <a:latin typeface="Roboto"/>
                <a:cs typeface="Roboto"/>
              </a:rPr>
              <a:t> </a:t>
            </a:r>
            <a:r>
              <a:rPr sz="1350" spc="-20" dirty="0">
                <a:latin typeface="Roboto"/>
                <a:cs typeface="Roboto"/>
              </a:rPr>
              <a:t>by</a:t>
            </a:r>
            <a:r>
              <a:rPr sz="1350" spc="-50" dirty="0">
                <a:latin typeface="Roboto"/>
                <a:cs typeface="Roboto"/>
              </a:rPr>
              <a:t> </a:t>
            </a:r>
            <a:r>
              <a:rPr sz="1350" dirty="0">
                <a:latin typeface="Roboto"/>
                <a:cs typeface="Roboto"/>
              </a:rPr>
              <a:t>up</a:t>
            </a:r>
            <a:r>
              <a:rPr sz="1350" spc="-50" dirty="0">
                <a:latin typeface="Roboto"/>
                <a:cs typeface="Roboto"/>
              </a:rPr>
              <a:t> </a:t>
            </a:r>
            <a:r>
              <a:rPr sz="1350" dirty="0">
                <a:latin typeface="Roboto"/>
                <a:cs typeface="Roboto"/>
              </a:rPr>
              <a:t>to</a:t>
            </a:r>
            <a:r>
              <a:rPr sz="1350" spc="-50" dirty="0">
                <a:latin typeface="Roboto"/>
                <a:cs typeface="Roboto"/>
              </a:rPr>
              <a:t> </a:t>
            </a:r>
            <a:r>
              <a:rPr sz="1350" spc="-20" dirty="0">
                <a:latin typeface="Roboto"/>
                <a:cs typeface="Roboto"/>
              </a:rPr>
              <a:t>25%.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0075" y="3238499"/>
            <a:ext cx="5943600" cy="1257300"/>
          </a:xfrm>
          <a:custGeom>
            <a:avLst/>
            <a:gdLst/>
            <a:ahLst/>
            <a:cxnLst/>
            <a:rect l="l" t="t" r="r" b="b"/>
            <a:pathLst>
              <a:path w="5943600" h="1257300">
                <a:moveTo>
                  <a:pt x="5925007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1235875"/>
                </a:lnTo>
                <a:lnTo>
                  <a:pt x="0" y="1238707"/>
                </a:lnTo>
                <a:lnTo>
                  <a:pt x="18588" y="1257300"/>
                </a:lnTo>
                <a:lnTo>
                  <a:pt x="5925007" y="1257300"/>
                </a:lnTo>
                <a:lnTo>
                  <a:pt x="5943600" y="1238707"/>
                </a:lnTo>
                <a:lnTo>
                  <a:pt x="5943600" y="18592"/>
                </a:lnTo>
                <a:lnTo>
                  <a:pt x="5927750" y="546"/>
                </a:lnTo>
                <a:lnTo>
                  <a:pt x="5925007" y="0"/>
                </a:lnTo>
                <a:close/>
              </a:path>
            </a:pathLst>
          </a:custGeom>
          <a:solidFill>
            <a:srgbClr val="DCFF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58825" y="3402012"/>
            <a:ext cx="5403850" cy="8839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10" dirty="0">
                <a:latin typeface="Courier New"/>
                <a:cs typeface="Courier New"/>
              </a:rPr>
              <a:t>Increase</a:t>
            </a:r>
            <a:r>
              <a:rPr sz="1650" spc="-229" dirty="0">
                <a:latin typeface="Courier New"/>
                <a:cs typeface="Courier New"/>
              </a:rPr>
              <a:t> </a:t>
            </a:r>
            <a:r>
              <a:rPr sz="1650" spc="-10" dirty="0">
                <a:latin typeface="Courier New"/>
                <a:cs typeface="Courier New"/>
              </a:rPr>
              <a:t>Profitability</a:t>
            </a:r>
            <a:endParaRPr sz="1650">
              <a:latin typeface="Courier New"/>
              <a:cs typeface="Courier New"/>
            </a:endParaRPr>
          </a:p>
          <a:p>
            <a:pPr marL="12700" marR="5080">
              <a:lnSpc>
                <a:spcPct val="129600"/>
              </a:lnSpc>
              <a:spcBef>
                <a:spcPts val="540"/>
              </a:spcBef>
            </a:pPr>
            <a:r>
              <a:rPr sz="1350" spc="-30" dirty="0">
                <a:latin typeface="Roboto"/>
                <a:cs typeface="Roboto"/>
              </a:rPr>
              <a:t>Improves </a:t>
            </a:r>
            <a:r>
              <a:rPr sz="1350" spc="-25" dirty="0">
                <a:latin typeface="Roboto"/>
                <a:cs typeface="Roboto"/>
              </a:rPr>
              <a:t>customer</a:t>
            </a:r>
            <a:r>
              <a:rPr sz="1350" spc="-30" dirty="0">
                <a:latin typeface="Roboto"/>
                <a:cs typeface="Roboto"/>
              </a:rPr>
              <a:t> </a:t>
            </a:r>
            <a:r>
              <a:rPr sz="1350" spc="-20" dirty="0">
                <a:latin typeface="Roboto"/>
                <a:cs typeface="Roboto"/>
              </a:rPr>
              <a:t>lifetime</a:t>
            </a:r>
            <a:r>
              <a:rPr sz="1350" spc="-30" dirty="0">
                <a:latin typeface="Roboto"/>
                <a:cs typeface="Roboto"/>
              </a:rPr>
              <a:t> </a:t>
            </a:r>
            <a:r>
              <a:rPr sz="1350" spc="-25" dirty="0">
                <a:latin typeface="Roboto"/>
                <a:cs typeface="Roboto"/>
              </a:rPr>
              <a:t>value</a:t>
            </a:r>
            <a:r>
              <a:rPr sz="1350" spc="-30" dirty="0">
                <a:latin typeface="Roboto"/>
                <a:cs typeface="Roboto"/>
              </a:rPr>
              <a:t> </a:t>
            </a:r>
            <a:r>
              <a:rPr sz="1350" spc="-10" dirty="0">
                <a:latin typeface="Roboto"/>
                <a:cs typeface="Roboto"/>
              </a:rPr>
              <a:t>and</a:t>
            </a:r>
            <a:r>
              <a:rPr sz="1350" spc="-30" dirty="0">
                <a:latin typeface="Roboto"/>
                <a:cs typeface="Roboto"/>
              </a:rPr>
              <a:t> </a:t>
            </a:r>
            <a:r>
              <a:rPr sz="1350" spc="-25" dirty="0">
                <a:latin typeface="Roboto"/>
                <a:cs typeface="Roboto"/>
              </a:rPr>
              <a:t>drives</a:t>
            </a:r>
            <a:r>
              <a:rPr sz="1350" spc="-30" dirty="0">
                <a:latin typeface="Roboto"/>
                <a:cs typeface="Roboto"/>
              </a:rPr>
              <a:t> </a:t>
            </a:r>
            <a:r>
              <a:rPr sz="1350" spc="-25" dirty="0">
                <a:latin typeface="Roboto"/>
                <a:cs typeface="Roboto"/>
              </a:rPr>
              <a:t>sustainable</a:t>
            </a:r>
            <a:r>
              <a:rPr sz="1350" spc="-30" dirty="0">
                <a:latin typeface="Roboto"/>
                <a:cs typeface="Roboto"/>
              </a:rPr>
              <a:t> revenue </a:t>
            </a:r>
            <a:r>
              <a:rPr sz="1350" spc="-10" dirty="0">
                <a:latin typeface="Roboto"/>
                <a:cs typeface="Roboto"/>
              </a:rPr>
              <a:t>growth </a:t>
            </a:r>
            <a:r>
              <a:rPr sz="1350" spc="-30" dirty="0">
                <a:latin typeface="Roboto"/>
                <a:cs typeface="Roboto"/>
              </a:rPr>
              <a:t>through </a:t>
            </a:r>
            <a:r>
              <a:rPr sz="1350" spc="-10" dirty="0">
                <a:latin typeface="Roboto"/>
                <a:cs typeface="Roboto"/>
              </a:rPr>
              <a:t>retention.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0075" y="4667249"/>
            <a:ext cx="5943600" cy="1266825"/>
          </a:xfrm>
          <a:custGeom>
            <a:avLst/>
            <a:gdLst/>
            <a:ahLst/>
            <a:cxnLst/>
            <a:rect l="l" t="t" r="r" b="b"/>
            <a:pathLst>
              <a:path w="5943600" h="1266825">
                <a:moveTo>
                  <a:pt x="5925007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1245400"/>
                </a:lnTo>
                <a:lnTo>
                  <a:pt x="0" y="1248232"/>
                </a:lnTo>
                <a:lnTo>
                  <a:pt x="18588" y="1266825"/>
                </a:lnTo>
                <a:lnTo>
                  <a:pt x="5925007" y="1266825"/>
                </a:lnTo>
                <a:lnTo>
                  <a:pt x="5943600" y="1248232"/>
                </a:lnTo>
                <a:lnTo>
                  <a:pt x="5943600" y="18592"/>
                </a:lnTo>
                <a:lnTo>
                  <a:pt x="5927750" y="546"/>
                </a:lnTo>
                <a:lnTo>
                  <a:pt x="5925007" y="0"/>
                </a:lnTo>
                <a:close/>
              </a:path>
            </a:pathLst>
          </a:custGeom>
          <a:solidFill>
            <a:srgbClr val="DCFF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58825" y="4830762"/>
            <a:ext cx="5045075" cy="8934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10" dirty="0">
                <a:latin typeface="Courier New"/>
                <a:cs typeface="Courier New"/>
              </a:rPr>
              <a:t>Maximize</a:t>
            </a:r>
            <a:r>
              <a:rPr sz="1650" spc="-195" dirty="0">
                <a:latin typeface="Courier New"/>
                <a:cs typeface="Courier New"/>
              </a:rPr>
              <a:t> </a:t>
            </a:r>
            <a:r>
              <a:rPr sz="1650" spc="-20" dirty="0">
                <a:latin typeface="Courier New"/>
                <a:cs typeface="Courier New"/>
              </a:rPr>
              <a:t>Marketing</a:t>
            </a:r>
            <a:r>
              <a:rPr sz="1650" spc="-195" dirty="0">
                <a:latin typeface="Courier New"/>
                <a:cs typeface="Courier New"/>
              </a:rPr>
              <a:t> </a:t>
            </a:r>
            <a:r>
              <a:rPr sz="1650" spc="-25" dirty="0">
                <a:latin typeface="Courier New"/>
                <a:cs typeface="Courier New"/>
              </a:rPr>
              <a:t>ROI</a:t>
            </a:r>
            <a:endParaRPr sz="1650">
              <a:latin typeface="Courier New"/>
              <a:cs typeface="Courier New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sz="1350" spc="-80" dirty="0">
                <a:latin typeface="Roboto"/>
                <a:cs typeface="Roboto"/>
              </a:rPr>
              <a:t>Data-</a:t>
            </a:r>
            <a:r>
              <a:rPr sz="1350" spc="-25" dirty="0">
                <a:latin typeface="Roboto"/>
                <a:cs typeface="Roboto"/>
              </a:rPr>
              <a:t>driven</a:t>
            </a:r>
            <a:r>
              <a:rPr sz="1350" spc="-20" dirty="0">
                <a:latin typeface="Roboto"/>
                <a:cs typeface="Roboto"/>
              </a:rPr>
              <a:t> decision</a:t>
            </a:r>
            <a:r>
              <a:rPr sz="1350" spc="-15" dirty="0">
                <a:latin typeface="Roboto"/>
                <a:cs typeface="Roboto"/>
              </a:rPr>
              <a:t> </a:t>
            </a:r>
            <a:r>
              <a:rPr sz="1350" spc="-20" dirty="0">
                <a:latin typeface="Roboto"/>
                <a:cs typeface="Roboto"/>
              </a:rPr>
              <a:t>making</a:t>
            </a:r>
            <a:r>
              <a:rPr sz="1350" spc="-15" dirty="0">
                <a:latin typeface="Roboto"/>
                <a:cs typeface="Roboto"/>
              </a:rPr>
              <a:t> </a:t>
            </a:r>
            <a:r>
              <a:rPr sz="1350" spc="-25" dirty="0">
                <a:latin typeface="Roboto"/>
                <a:cs typeface="Roboto"/>
              </a:rPr>
              <a:t>enhances</a:t>
            </a:r>
            <a:r>
              <a:rPr sz="1350" spc="-15" dirty="0">
                <a:latin typeface="Roboto"/>
                <a:cs typeface="Roboto"/>
              </a:rPr>
              <a:t> </a:t>
            </a:r>
            <a:r>
              <a:rPr sz="1350" spc="-25" dirty="0">
                <a:latin typeface="Roboto"/>
                <a:cs typeface="Roboto"/>
              </a:rPr>
              <a:t>campaign</a:t>
            </a:r>
            <a:r>
              <a:rPr sz="1350" spc="-20" dirty="0">
                <a:latin typeface="Roboto"/>
                <a:cs typeface="Roboto"/>
              </a:rPr>
              <a:t> </a:t>
            </a:r>
            <a:r>
              <a:rPr sz="1350" spc="-25" dirty="0">
                <a:latin typeface="Roboto"/>
                <a:cs typeface="Roboto"/>
              </a:rPr>
              <a:t>effectiveness</a:t>
            </a:r>
            <a:r>
              <a:rPr sz="1350" spc="-15" dirty="0">
                <a:latin typeface="Roboto"/>
                <a:cs typeface="Roboto"/>
              </a:rPr>
              <a:t> </a:t>
            </a:r>
            <a:r>
              <a:rPr sz="1350" spc="-25" dirty="0">
                <a:latin typeface="Roboto"/>
                <a:cs typeface="Roboto"/>
              </a:rPr>
              <a:t>and resource</a:t>
            </a:r>
            <a:r>
              <a:rPr sz="1350" spc="-40" dirty="0">
                <a:latin typeface="Roboto"/>
                <a:cs typeface="Roboto"/>
              </a:rPr>
              <a:t> </a:t>
            </a:r>
            <a:r>
              <a:rPr sz="1350" spc="-10" dirty="0">
                <a:latin typeface="Roboto"/>
                <a:cs typeface="Roboto"/>
              </a:rPr>
              <a:t>allocation.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00075" y="6105524"/>
            <a:ext cx="5943600" cy="981075"/>
          </a:xfrm>
          <a:custGeom>
            <a:avLst/>
            <a:gdLst/>
            <a:ahLst/>
            <a:cxnLst/>
            <a:rect l="l" t="t" r="r" b="b"/>
            <a:pathLst>
              <a:path w="5943600" h="981075">
                <a:moveTo>
                  <a:pt x="5925007" y="0"/>
                </a:moveTo>
                <a:lnTo>
                  <a:pt x="18588" y="0"/>
                </a:lnTo>
                <a:lnTo>
                  <a:pt x="15854" y="546"/>
                </a:lnTo>
                <a:lnTo>
                  <a:pt x="0" y="18592"/>
                </a:lnTo>
                <a:lnTo>
                  <a:pt x="0" y="959645"/>
                </a:lnTo>
                <a:lnTo>
                  <a:pt x="0" y="962487"/>
                </a:lnTo>
                <a:lnTo>
                  <a:pt x="18588" y="981076"/>
                </a:lnTo>
                <a:lnTo>
                  <a:pt x="5925007" y="981076"/>
                </a:lnTo>
                <a:lnTo>
                  <a:pt x="5943600" y="962487"/>
                </a:lnTo>
                <a:lnTo>
                  <a:pt x="5943600" y="18592"/>
                </a:lnTo>
                <a:lnTo>
                  <a:pt x="5927750" y="546"/>
                </a:lnTo>
                <a:lnTo>
                  <a:pt x="5925007" y="0"/>
                </a:lnTo>
                <a:close/>
              </a:path>
            </a:pathLst>
          </a:custGeom>
          <a:solidFill>
            <a:srgbClr val="DCFF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58825" y="6269038"/>
            <a:ext cx="5292090" cy="6172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latin typeface="Courier New"/>
                <a:cs typeface="Courier New"/>
              </a:rPr>
              <a:t>Gain</a:t>
            </a:r>
            <a:r>
              <a:rPr sz="1650" spc="-155" dirty="0">
                <a:latin typeface="Courier New"/>
                <a:cs typeface="Courier New"/>
              </a:rPr>
              <a:t> </a:t>
            </a:r>
            <a:r>
              <a:rPr sz="1650" spc="-25" dirty="0">
                <a:latin typeface="Courier New"/>
                <a:cs typeface="Courier New"/>
              </a:rPr>
              <a:t>Competitive</a:t>
            </a:r>
            <a:r>
              <a:rPr sz="1650" spc="-150" dirty="0">
                <a:latin typeface="Courier New"/>
                <a:cs typeface="Courier New"/>
              </a:rPr>
              <a:t> </a:t>
            </a:r>
            <a:r>
              <a:rPr sz="1650" spc="-20" dirty="0">
                <a:latin typeface="Courier New"/>
                <a:cs typeface="Courier New"/>
              </a:rPr>
              <a:t>Edge</a:t>
            </a:r>
            <a:endParaRPr sz="1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</a:pPr>
            <a:r>
              <a:rPr sz="1350" spc="-30" dirty="0">
                <a:latin typeface="Roboto"/>
                <a:cs typeface="Roboto"/>
              </a:rPr>
              <a:t>Predictive</a:t>
            </a:r>
            <a:r>
              <a:rPr sz="1350" spc="-25" dirty="0">
                <a:latin typeface="Roboto"/>
                <a:cs typeface="Roboto"/>
              </a:rPr>
              <a:t> customer insights </a:t>
            </a:r>
            <a:r>
              <a:rPr sz="1350" spc="-20" dirty="0">
                <a:latin typeface="Roboto"/>
                <a:cs typeface="Roboto"/>
              </a:rPr>
              <a:t>create</a:t>
            </a:r>
            <a:r>
              <a:rPr sz="1350" spc="-25" dirty="0">
                <a:latin typeface="Roboto"/>
                <a:cs typeface="Roboto"/>
              </a:rPr>
              <a:t> differentiation </a:t>
            </a:r>
            <a:r>
              <a:rPr sz="1350" dirty="0">
                <a:latin typeface="Roboto"/>
                <a:cs typeface="Roboto"/>
              </a:rPr>
              <a:t>in</a:t>
            </a:r>
            <a:r>
              <a:rPr sz="1350" spc="-25" dirty="0">
                <a:latin typeface="Roboto"/>
                <a:cs typeface="Roboto"/>
              </a:rPr>
              <a:t> crowded </a:t>
            </a:r>
            <a:r>
              <a:rPr sz="1350" spc="-10" dirty="0">
                <a:latin typeface="Roboto"/>
                <a:cs typeface="Roboto"/>
              </a:rPr>
              <a:t>markets.</a:t>
            </a:r>
            <a:endParaRPr sz="13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11430000" cy="6496050"/>
          </a:xfrm>
          <a:custGeom>
            <a:avLst/>
            <a:gdLst/>
            <a:ahLst/>
            <a:cxnLst/>
            <a:rect l="l" t="t" r="r" b="b"/>
            <a:pathLst>
              <a:path w="11430000" h="6496050">
                <a:moveTo>
                  <a:pt x="11430000" y="0"/>
                </a:moveTo>
                <a:lnTo>
                  <a:pt x="0" y="0"/>
                </a:lnTo>
                <a:lnTo>
                  <a:pt x="0" y="6496050"/>
                </a:lnTo>
                <a:lnTo>
                  <a:pt x="11430000" y="64960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020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463550"/>
            <a:ext cx="9324340" cy="10731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spc="-75" dirty="0"/>
              <a:t>Conclusion:</a:t>
            </a:r>
            <a:r>
              <a:rPr spc="-390" dirty="0"/>
              <a:t> </a:t>
            </a:r>
            <a:r>
              <a:rPr spc="-75" dirty="0"/>
              <a:t>Unlocking</a:t>
            </a:r>
            <a:r>
              <a:rPr spc="-380" dirty="0"/>
              <a:t> </a:t>
            </a:r>
            <a:r>
              <a:rPr spc="-70" dirty="0"/>
              <a:t>Customer</a:t>
            </a:r>
            <a:r>
              <a:rPr spc="-375" dirty="0"/>
              <a:t> </a:t>
            </a:r>
            <a:r>
              <a:rPr spc="-20" dirty="0"/>
              <a:t>Loyalty </a:t>
            </a:r>
            <a:r>
              <a:rPr spc="-10" dirty="0"/>
              <a:t>with</a:t>
            </a:r>
            <a:r>
              <a:rPr spc="-475" dirty="0"/>
              <a:t> </a:t>
            </a:r>
            <a:r>
              <a:rPr spc="-10" dirty="0"/>
              <a:t>SPSS</a:t>
            </a:r>
            <a:r>
              <a:rPr spc="-465" dirty="0"/>
              <a:t> </a:t>
            </a:r>
            <a:r>
              <a:rPr spc="-10" dirty="0"/>
              <a:t>Modeler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5310">
              <a:lnSpc>
                <a:spcPct val="134300"/>
              </a:lnSpc>
              <a:spcBef>
                <a:spcPts val="100"/>
              </a:spcBef>
            </a:pPr>
            <a:r>
              <a:rPr b="1" dirty="0">
                <a:solidFill>
                  <a:srgbClr val="DCFF4F"/>
                </a:solidFill>
                <a:latin typeface="Roboto"/>
                <a:cs typeface="Roboto"/>
              </a:rPr>
              <a:t>IBM</a:t>
            </a:r>
            <a:r>
              <a:rPr b="1" spc="-55" dirty="0">
                <a:solidFill>
                  <a:srgbClr val="DCFF4F"/>
                </a:solidFill>
                <a:latin typeface="Roboto"/>
                <a:cs typeface="Roboto"/>
              </a:rPr>
              <a:t> </a:t>
            </a:r>
            <a:r>
              <a:rPr b="1" spc="-10" dirty="0">
                <a:solidFill>
                  <a:srgbClr val="DCFF4F"/>
                </a:solidFill>
                <a:latin typeface="Roboto"/>
                <a:cs typeface="Roboto"/>
              </a:rPr>
              <a:t>SPSS</a:t>
            </a:r>
            <a:r>
              <a:rPr b="1" spc="-55" dirty="0">
                <a:solidFill>
                  <a:srgbClr val="DCFF4F"/>
                </a:solidFill>
                <a:latin typeface="Roboto"/>
                <a:cs typeface="Roboto"/>
              </a:rPr>
              <a:t> </a:t>
            </a:r>
            <a:r>
              <a:rPr b="1" dirty="0">
                <a:solidFill>
                  <a:srgbClr val="DCFF4F"/>
                </a:solidFill>
                <a:latin typeface="Roboto"/>
                <a:cs typeface="Roboto"/>
              </a:rPr>
              <a:t>Modeler</a:t>
            </a:r>
            <a:r>
              <a:rPr b="1" spc="-55" dirty="0">
                <a:solidFill>
                  <a:srgbClr val="DCFF4F"/>
                </a:solidFill>
                <a:latin typeface="Roboto"/>
                <a:cs typeface="Roboto"/>
              </a:rPr>
              <a:t> </a:t>
            </a:r>
            <a:r>
              <a:rPr b="1" dirty="0">
                <a:solidFill>
                  <a:srgbClr val="DCFF4F"/>
                </a:solidFill>
                <a:latin typeface="Roboto"/>
                <a:cs typeface="Roboto"/>
              </a:rPr>
              <a:t>empowers</a:t>
            </a:r>
            <a:r>
              <a:rPr b="1" spc="-50" dirty="0">
                <a:solidFill>
                  <a:srgbClr val="DCFF4F"/>
                </a:solidFill>
                <a:latin typeface="Roboto"/>
                <a:cs typeface="Roboto"/>
              </a:rPr>
              <a:t> </a:t>
            </a:r>
            <a:r>
              <a:rPr b="1" spc="-20" dirty="0">
                <a:solidFill>
                  <a:srgbClr val="DCFF4F"/>
                </a:solidFill>
                <a:latin typeface="Roboto"/>
                <a:cs typeface="Roboto"/>
              </a:rPr>
              <a:t>banks</a:t>
            </a:r>
            <a:r>
              <a:rPr b="1" spc="-55" dirty="0">
                <a:solidFill>
                  <a:srgbClr val="DCFF4F"/>
                </a:solidFill>
                <a:latin typeface="Roboto"/>
                <a:cs typeface="Roboto"/>
              </a:rPr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spc="-25" dirty="0"/>
              <a:t>turn</a:t>
            </a:r>
            <a:r>
              <a:rPr spc="-55" dirty="0"/>
              <a:t> </a:t>
            </a:r>
            <a:r>
              <a:rPr spc="-10" dirty="0"/>
              <a:t>data</a:t>
            </a:r>
            <a:r>
              <a:rPr spc="-50" dirty="0"/>
              <a:t> </a:t>
            </a:r>
            <a:r>
              <a:rPr spc="-20" dirty="0"/>
              <a:t>into</a:t>
            </a:r>
            <a:r>
              <a:rPr spc="-55" dirty="0"/>
              <a:t> </a:t>
            </a:r>
            <a:r>
              <a:rPr spc="-30" dirty="0"/>
              <a:t>predictive</a:t>
            </a:r>
            <a:r>
              <a:rPr spc="-55" dirty="0"/>
              <a:t> </a:t>
            </a:r>
            <a:r>
              <a:rPr spc="-10" dirty="0"/>
              <a:t>power, </a:t>
            </a:r>
            <a:r>
              <a:rPr spc="-30" dirty="0"/>
              <a:t>transforming</a:t>
            </a:r>
            <a:r>
              <a:rPr spc="-25" dirty="0"/>
              <a:t> </a:t>
            </a:r>
            <a:r>
              <a:rPr spc="-10" dirty="0"/>
              <a:t>how</a:t>
            </a:r>
            <a:r>
              <a:rPr spc="-20" dirty="0"/>
              <a:t> </a:t>
            </a:r>
            <a:r>
              <a:rPr spc="-30" dirty="0"/>
              <a:t>organizations</a:t>
            </a:r>
            <a:r>
              <a:rPr spc="-25" dirty="0"/>
              <a:t> </a:t>
            </a:r>
            <a:r>
              <a:rPr spc="-30" dirty="0"/>
              <a:t>understand</a:t>
            </a:r>
            <a:r>
              <a:rPr spc="-20" dirty="0"/>
              <a:t> </a:t>
            </a:r>
            <a:r>
              <a:rPr spc="-10" dirty="0"/>
              <a:t>and</a:t>
            </a:r>
            <a:r>
              <a:rPr spc="-20" dirty="0"/>
              <a:t> </a:t>
            </a:r>
            <a:r>
              <a:rPr spc="-25" dirty="0"/>
              <a:t>retain </a:t>
            </a:r>
            <a:r>
              <a:rPr spc="-20" dirty="0"/>
              <a:t>their </a:t>
            </a:r>
            <a:r>
              <a:rPr spc="-10" dirty="0"/>
              <a:t>customers.</a:t>
            </a:r>
          </a:p>
          <a:p>
            <a:pPr marL="12700" marR="5080">
              <a:lnSpc>
                <a:spcPct val="134300"/>
              </a:lnSpc>
              <a:spcBef>
                <a:spcPts val="1195"/>
              </a:spcBef>
            </a:pPr>
            <a:r>
              <a:rPr spc="-20" dirty="0"/>
              <a:t>Visual,</a:t>
            </a:r>
            <a:r>
              <a:rPr spc="-35" dirty="0"/>
              <a:t> </a:t>
            </a:r>
            <a:r>
              <a:rPr spc="-30" dirty="0"/>
              <a:t>intuitive </a:t>
            </a:r>
            <a:r>
              <a:rPr spc="-20" dirty="0"/>
              <a:t>workflows</a:t>
            </a:r>
            <a:r>
              <a:rPr spc="-30" dirty="0"/>
              <a:t> </a:t>
            </a:r>
            <a:r>
              <a:rPr spc="-25" dirty="0"/>
              <a:t>accelerate</a:t>
            </a:r>
            <a:r>
              <a:rPr spc="-30" dirty="0"/>
              <a:t> </a:t>
            </a:r>
            <a:r>
              <a:rPr spc="-10" dirty="0"/>
              <a:t>model</a:t>
            </a:r>
            <a:r>
              <a:rPr spc="-30" dirty="0"/>
              <a:t> </a:t>
            </a:r>
            <a:r>
              <a:rPr spc="-25" dirty="0"/>
              <a:t>development</a:t>
            </a:r>
            <a:r>
              <a:rPr spc="-30" dirty="0"/>
              <a:t> </a:t>
            </a:r>
            <a:r>
              <a:rPr spc="-10" dirty="0"/>
              <a:t>and</a:t>
            </a:r>
            <a:r>
              <a:rPr spc="-35" dirty="0"/>
              <a:t> </a:t>
            </a:r>
            <a:r>
              <a:rPr spc="-10" dirty="0"/>
              <a:t>deployment, </a:t>
            </a:r>
            <a:r>
              <a:rPr spc="-20" dirty="0"/>
              <a:t>making</a:t>
            </a:r>
            <a:r>
              <a:rPr spc="-40" dirty="0"/>
              <a:t> </a:t>
            </a:r>
            <a:r>
              <a:rPr spc="-25" dirty="0"/>
              <a:t>advanced</a:t>
            </a:r>
            <a:r>
              <a:rPr spc="-35" dirty="0"/>
              <a:t> </a:t>
            </a:r>
            <a:r>
              <a:rPr spc="-30" dirty="0"/>
              <a:t>analytics</a:t>
            </a:r>
            <a:r>
              <a:rPr spc="-40" dirty="0"/>
              <a:t> </a:t>
            </a:r>
            <a:r>
              <a:rPr spc="-20" dirty="0"/>
              <a:t>accessible</a:t>
            </a:r>
            <a:r>
              <a:rPr spc="-3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spc="-25" dirty="0"/>
              <a:t>business</a:t>
            </a:r>
            <a:r>
              <a:rPr spc="-40" dirty="0"/>
              <a:t> </a:t>
            </a:r>
            <a:r>
              <a:rPr spc="-30" dirty="0"/>
              <a:t>analysts</a:t>
            </a:r>
            <a:r>
              <a:rPr spc="-35" dirty="0"/>
              <a:t> </a:t>
            </a:r>
            <a:r>
              <a:rPr spc="-10" dirty="0"/>
              <a:t>and</a:t>
            </a:r>
            <a:r>
              <a:rPr spc="-35" dirty="0"/>
              <a:t> </a:t>
            </a:r>
            <a:r>
              <a:rPr spc="-10" dirty="0"/>
              <a:t>data</a:t>
            </a:r>
            <a:r>
              <a:rPr spc="-40" dirty="0"/>
              <a:t> </a:t>
            </a:r>
            <a:r>
              <a:rPr spc="-10" dirty="0"/>
              <a:t>scientists alike.</a:t>
            </a:r>
          </a:p>
          <a:p>
            <a:pPr marL="12700" marR="346075">
              <a:lnSpc>
                <a:spcPct val="129600"/>
              </a:lnSpc>
              <a:spcBef>
                <a:spcPts val="1280"/>
              </a:spcBef>
            </a:pPr>
            <a:r>
              <a:rPr spc="-30" dirty="0"/>
              <a:t>Predictive</a:t>
            </a:r>
            <a:r>
              <a:rPr spc="-35" dirty="0"/>
              <a:t> </a:t>
            </a:r>
            <a:r>
              <a:rPr spc="-30" dirty="0"/>
              <a:t>churn</a:t>
            </a:r>
            <a:r>
              <a:rPr spc="-35" dirty="0"/>
              <a:t> </a:t>
            </a:r>
            <a:r>
              <a:rPr spc="-10" dirty="0"/>
              <a:t>models</a:t>
            </a:r>
            <a:r>
              <a:rPr spc="-35" dirty="0"/>
              <a:t> </a:t>
            </a:r>
            <a:r>
              <a:rPr spc="-25" dirty="0"/>
              <a:t>drive</a:t>
            </a:r>
            <a:r>
              <a:rPr spc="-30" dirty="0"/>
              <a:t> </a:t>
            </a:r>
            <a:r>
              <a:rPr spc="-20" dirty="0"/>
              <a:t>smarter</a:t>
            </a:r>
            <a:r>
              <a:rPr spc="-35" dirty="0"/>
              <a:t> </a:t>
            </a:r>
            <a:r>
              <a:rPr spc="-25" dirty="0"/>
              <a:t>retention</a:t>
            </a:r>
            <a:r>
              <a:rPr spc="-35" dirty="0"/>
              <a:t> </a:t>
            </a:r>
            <a:r>
              <a:rPr spc="-25" dirty="0"/>
              <a:t>strategies</a:t>
            </a:r>
            <a:r>
              <a:rPr spc="-35" dirty="0"/>
              <a:t> </a:t>
            </a:r>
            <a:r>
              <a:rPr spc="-10" dirty="0"/>
              <a:t>and</a:t>
            </a:r>
            <a:r>
              <a:rPr spc="-30" dirty="0"/>
              <a:t> </a:t>
            </a:r>
            <a:r>
              <a:rPr spc="-10" dirty="0"/>
              <a:t>sustainable </a:t>
            </a:r>
            <a:r>
              <a:rPr spc="-25" dirty="0"/>
              <a:t>business</a:t>
            </a:r>
            <a:r>
              <a:rPr spc="-40" dirty="0"/>
              <a:t> </a:t>
            </a:r>
            <a:r>
              <a:rPr spc="-25" dirty="0"/>
              <a:t>growth</a:t>
            </a:r>
            <a:r>
              <a:rPr spc="-40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an</a:t>
            </a:r>
            <a:r>
              <a:rPr spc="-35" dirty="0"/>
              <a:t> </a:t>
            </a:r>
            <a:r>
              <a:rPr spc="-30" dirty="0"/>
              <a:t>increasingly</a:t>
            </a:r>
            <a:r>
              <a:rPr spc="-40" dirty="0"/>
              <a:t> </a:t>
            </a:r>
            <a:r>
              <a:rPr spc="-25" dirty="0"/>
              <a:t>competitive</a:t>
            </a:r>
            <a:r>
              <a:rPr spc="-40" dirty="0"/>
              <a:t> </a:t>
            </a:r>
            <a:r>
              <a:rPr spc="-10" dirty="0"/>
              <a:t>landscape.</a:t>
            </a: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Start</a:t>
            </a:r>
            <a:r>
              <a:rPr sz="2000" spc="-254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dirty="0">
                <a:solidFill>
                  <a:srgbClr val="FFFFFF"/>
                </a:solidFill>
                <a:latin typeface="Courier New"/>
                <a:cs typeface="Courier New"/>
              </a:rPr>
              <a:t>Your</a:t>
            </a:r>
            <a:r>
              <a:rPr sz="2000" spc="-254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ourier New"/>
                <a:cs typeface="Courier New"/>
              </a:rPr>
              <a:t>Journey</a:t>
            </a:r>
            <a:r>
              <a:rPr sz="2000" spc="-2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urier New"/>
                <a:cs typeface="Courier New"/>
              </a:rPr>
              <a:t>Today</a:t>
            </a:r>
            <a:endParaRPr sz="2000">
              <a:latin typeface="Courier New"/>
              <a:cs typeface="Courier New"/>
            </a:endParaRPr>
          </a:p>
          <a:p>
            <a:pPr marL="12700" marR="673735">
              <a:lnSpc>
                <a:spcPct val="134300"/>
              </a:lnSpc>
              <a:spcBef>
                <a:spcPts val="1070"/>
              </a:spcBef>
            </a:pPr>
            <a:r>
              <a:rPr spc="-30" dirty="0"/>
              <a:t>Transform</a:t>
            </a:r>
            <a:r>
              <a:rPr spc="-40" dirty="0"/>
              <a:t> </a:t>
            </a:r>
            <a:r>
              <a:rPr spc="-25" dirty="0"/>
              <a:t>customer</a:t>
            </a:r>
            <a:r>
              <a:rPr spc="-35" dirty="0"/>
              <a:t> </a:t>
            </a:r>
            <a:r>
              <a:rPr spc="-10" dirty="0"/>
              <a:t>data</a:t>
            </a:r>
            <a:r>
              <a:rPr spc="-35" dirty="0"/>
              <a:t> </a:t>
            </a:r>
            <a:r>
              <a:rPr spc="-20" dirty="0"/>
              <a:t>into</a:t>
            </a:r>
            <a:r>
              <a:rPr spc="-35" dirty="0"/>
              <a:t> </a:t>
            </a:r>
            <a:r>
              <a:rPr spc="-25" dirty="0"/>
              <a:t>actionable</a:t>
            </a:r>
            <a:r>
              <a:rPr spc="-40" dirty="0"/>
              <a:t> </a:t>
            </a:r>
            <a:r>
              <a:rPr spc="-25" dirty="0"/>
              <a:t>insights</a:t>
            </a:r>
            <a:r>
              <a:rPr spc="-35" dirty="0"/>
              <a:t> </a:t>
            </a:r>
            <a:r>
              <a:rPr spc="-10" dirty="0"/>
              <a:t>and</a:t>
            </a:r>
            <a:r>
              <a:rPr spc="-35" dirty="0"/>
              <a:t> </a:t>
            </a:r>
            <a:r>
              <a:rPr spc="-20" dirty="0"/>
              <a:t>build</a:t>
            </a:r>
            <a:r>
              <a:rPr spc="-3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spc="-25" dirty="0"/>
              <a:t>future</a:t>
            </a:r>
            <a:r>
              <a:rPr spc="-35" dirty="0"/>
              <a:t> </a:t>
            </a:r>
            <a:r>
              <a:rPr spc="-25" dirty="0"/>
              <a:t>of enhanced</a:t>
            </a:r>
            <a:r>
              <a:rPr spc="-50" dirty="0"/>
              <a:t> </a:t>
            </a:r>
            <a:r>
              <a:rPr spc="-30" dirty="0"/>
              <a:t>loyalty</a:t>
            </a:r>
            <a:r>
              <a:rPr spc="-45" dirty="0"/>
              <a:t> </a:t>
            </a:r>
            <a:r>
              <a:rPr spc="-10" dirty="0"/>
              <a:t>and</a:t>
            </a:r>
            <a:r>
              <a:rPr spc="-50" dirty="0"/>
              <a:t> </a:t>
            </a:r>
            <a:r>
              <a:rPr spc="-10" dirty="0"/>
              <a:t>profitability.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00875" y="1990725"/>
            <a:ext cx="3838574" cy="3848100"/>
          </a:xfrm>
          <a:prstGeom prst="rect">
            <a:avLst/>
          </a:prstGeom>
        </p:spPr>
      </p:pic>
      <p:pic>
        <p:nvPicPr>
          <p:cNvPr id="6" name="object 6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87034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712</Words>
  <Application>Microsoft Office PowerPoint</Application>
  <PresentationFormat>Custom</PresentationFormat>
  <Paragraphs>102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 Rounded MT Bold</vt:lpstr>
      <vt:lpstr>Courier New</vt:lpstr>
      <vt:lpstr>Roboto</vt:lpstr>
      <vt:lpstr>Office Theme</vt:lpstr>
      <vt:lpstr>Bank Customer Churn Prediction Using IBM SPSS Modeler</vt:lpstr>
      <vt:lpstr>Why Predict Bank Customer Churn?</vt:lpstr>
      <vt:lpstr>What is IBM SPSS Modeler?</vt:lpstr>
      <vt:lpstr>Understanding the Data: Key Features for Churn Prediction</vt:lpstr>
      <vt:lpstr>Data Preparation in SPSS Modeler</vt:lpstr>
      <vt:lpstr>Building the Churn Prediction Model</vt:lpstr>
      <vt:lpstr>Evaluating Model Performance</vt:lpstr>
      <vt:lpstr>Scoring and Deployment</vt:lpstr>
      <vt:lpstr>Real-World Impact: Business Benefits</vt:lpstr>
      <vt:lpstr>Conclusion: Unlocking Customer Loyalty with SPSS Modeler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creator>ANIT KHALKHO</dc:creator>
  <cp:lastModifiedBy>Lenovo</cp:lastModifiedBy>
  <cp:revision>3</cp:revision>
  <dcterms:created xsi:type="dcterms:W3CDTF">2025-11-22T12:52:26Z</dcterms:created>
  <dcterms:modified xsi:type="dcterms:W3CDTF">2025-11-28T17:03:26Z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2025-11-22T00:00:00Z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2025-11-22T00:00:00Z</vt:filetime>
  </property>
  <property fmtid="{D5CDD505-2E9C-101B-9397-08002B2CF9AE}" pid="5" name="Producer">
    <vt:lpwstr>GPL Ghostscript 9.56.1</vt:lpwstr>
  </property>
</Properties>
</file>